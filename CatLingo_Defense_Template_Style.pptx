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7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389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4168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Visual template derived from uploaded file: Copyright PDFs Ally.pptx (title-slide style, gradient background, Queen Mary branding).
- Project title, author, programme, and report year cross-checked against thesis PDF title page and uploaded DOCX title page.
- Project naming follows the dissertation abstract and introduction in the uploaded PDF (CatLingo / Android Chinese Words Game App).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abstract and keywords (pp. 4–5) for project purpose and scope.
- Uploaded thesis PDF: Introduction sections 1.1–1.4 (pp. 7–10) for background, problem statement, aim, objectives, and scope.
- Uploaded DOCX initial draft: Abstract and Chapter 1 for cross-checking motivation and project scope.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abstract (pp. 4–5) and requirements chapter (pp. 16–20) for the three core mini-games and support features.
- Uploaded thesis PDF: design chapter (pp. 22–36) for activity-based workflow and feature grouping.
- GitHub repo: activity_game_choice.xml and GameActivity.java for the three game modes and entry flow.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design and implementation chapter (pp. 22–25) for layered architecture and activity-based navigation.
- GitHub repo: GameActivity.java for single-activity mode dispatch and speech helper initialization.
- GitHub repo: README.md and Database_Documentation.md for stack components and runtime database description.
- Uploaded DOCX initial draft: Background / Technical context sections for platform migration context.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design chapter sections 4.4.1–4.4.3 (pp. 25–29) for database rationale, DAO access, and JSON-to-SQLite import.
- GitHub repo: Database_Documentation.md for the current 11-table SQLite schema and module grouping.
- GitHub repo: GameActivity.java for how session records and per-question details are created and updated.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sections 4.6–4.9 (pp. 30–35) for module design and implementation logic.
- GitHub repo: GameActivity.java for runtime constants, mode dispatch, answer feedback, Word Puzzle branching, and speech evaluation callbacks.
- GitHub repo: PRONUNCIATION_QUIZ_INTEGRATION.md for pronunciation flow and scoring design.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All four visual assets on this slide are cropped from dissertation result pages in the uploaded PDF: user management (p. 37), Character Matching (p. 38), Pronunciation Quiz (p. 39), and Word Puzzle (p. 40).
- The screenshots correspond to the thesis discussion in Chapter 5 and are used here as implementation evidence.
- Template styling continues the uploaded PowerPoint theme (footer gradient and Queen Mary branding).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97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All four visual assets on this slide are cropped from dissertation result pages in the uploaded PDF: user management (p. 37), Character Matching (p. 38), Pronunciation Quiz (p. 39), and Word Puzzle (p. 40).
- The screenshots correspond to the thesis discussion in Chapter 5 and are used here as implementation evidence.
- Template styling continues the uploaded PowerPoint theme (footer gradient and Queen Mary branding).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All four visual assets on this slide are cropped from dissertation result pages in the uploaded PDF: user management (p. 37), Character Matching (p. 38), Pronunciation Quiz (p. 39), and Word Puzzle (p. 40).
- The screenshots correspond to the thesis discussion in Chapter 5 and are used here as implementation evidence.
- Template styling continues the uploaded PowerPoint theme (footer gradient and Queen Mary branding).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8450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Results and Discussion chapter (pp. 37–43) for system effectiveness and objective comparison.
- Uploaded thesis PDF: Conclusion section 6.2 and 6.3 (pp. 44–45) for achievement of objectives and remaining limitations.
- Profile screenshot is cropped from uploaded PDF p. 41 as evidence of progress tracking.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Discussion of limitations (p. 42) and conclusion/future work (pp. 44–45).
- Uploaded DOCX initial draft: Risk and Environmental Impact Assessment appendix for privacy, fairness, and deployment-related constraints.
- Limitations reflect both the dissertation discussion and the current GitHub project state.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Visual style based on the uploaded PowerPoint template closing slide and Queen Mary branding from Copyright PDFs Ally.pptx.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jp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microsoft.com/office/2007/relationships/hdphoto" Target="../media/hdphoto2.wdp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ork/template_media/image2.jpg"/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552" y="384048"/>
            <a:ext cx="2663952" cy="8412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67714" y="2131543"/>
            <a:ext cx="9667926" cy="885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CatLingo</a:t>
            </a:r>
            <a:endParaRPr lang="en-US" sz="3100" dirty="0">
              <a:highlight>
                <a:srgbClr val="FFFF00"/>
              </a:highlight>
            </a:endParaRPr>
          </a:p>
        </p:txBody>
      </p:sp>
      <p:sp>
        <p:nvSpPr>
          <p:cNvPr id="5" name="Text 1"/>
          <p:cNvSpPr/>
          <p:nvPr/>
        </p:nvSpPr>
        <p:spPr>
          <a:xfrm>
            <a:off x="1124465" y="2842056"/>
            <a:ext cx="9802615" cy="44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Chinese Words Game App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1124465" y="3441605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D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Undergraduate Project Defence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1124465" y="4352544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Liu Weiliang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Telecommunications Engineering with Management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BUPT / QMUL · 2025/26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11480" y="6419088"/>
            <a:ext cx="11594592" cy="0"/>
          </a:xfrm>
          <a:prstGeom prst="line">
            <a:avLst/>
          </a:prstGeom>
          <a:noFill/>
          <a:ln w="15240">
            <a:solidFill>
              <a:srgbClr val="F2F7FA"/>
            </a:solidFill>
            <a:prstDash val="solid"/>
          </a:ln>
        </p:spPr>
      </p:sp>
      <p:pic>
        <p:nvPicPr>
          <p:cNvPr id="9" name="Picture 13" descr="b6db589c-7942-45dd-b976-168c70c0582a.jpg">
            <a:extLst>
              <a:ext uri="{FF2B5EF4-FFF2-40B4-BE49-F238E27FC236}">
                <a16:creationId xmlns:a16="http://schemas.microsoft.com/office/drawing/2014/main" id="{98512A25-983D-4D65-B794-F936D118EE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223" b="92090" l="5469" r="91016">
                        <a14:foregroundMark x1="33594" y1="82715" x2="40820" y2="84863"/>
                        <a14:foregroundMark x1="19336" y1="88477" x2="47754" y2="87207"/>
                        <a14:foregroundMark x1="91113" y1="79785" x2="83691" y2="88086"/>
                        <a14:foregroundMark x1="69238" y1="92090" x2="72852" y2="91699"/>
                        <a14:backgroundMark x1="5762" y1="391" x2="5957" y2="527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88833" y="1897381"/>
            <a:ext cx="333756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Background, Problem, and Objectives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project matters and what it set out to achieve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5440680" cy="4617720"/>
          </a:xfrm>
          <a:prstGeom prst="roundRect">
            <a:avLst>
              <a:gd name="adj" fmla="val 1584"/>
            </a:avLst>
          </a:prstGeom>
          <a:solidFill>
            <a:srgbClr val="EEF5FB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89904" y="1133856"/>
            <a:ext cx="54406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950976"/>
            <a:ext cx="1463040" cy="310896"/>
          </a:xfrm>
          <a:prstGeom prst="roundRect">
            <a:avLst>
              <a:gd name="adj" fmla="val 35294"/>
            </a:avLst>
          </a:prstGeom>
          <a:solidFill>
            <a:srgbClr val="DFF5F8"/>
          </a:solidFill>
          <a:ln w="12700">
            <a:solidFill>
              <a:srgbClr val="DFF5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987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27648" y="950976"/>
            <a:ext cx="1627632" cy="310896"/>
          </a:xfrm>
          <a:prstGeom prst="roundRect">
            <a:avLst>
              <a:gd name="adj" fmla="val 35294"/>
            </a:avLst>
          </a:prstGeom>
          <a:solidFill>
            <a:srgbClr val="EAF0FF"/>
          </a:solidFill>
          <a:ln w="12700">
            <a:solidFill>
              <a:srgbClr val="EAF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27648" y="98755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1481328"/>
            <a:ext cx="4892040" cy="3611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Many Chinese learning tools still isolate pinyin, vocabulary, or simple drills instead of integrating recognition, pronunciation, and sentence practice.</a:t>
            </a:r>
            <a:endParaRPr lang="en-US" sz="1720" dirty="0"/>
          </a:p>
          <a:p>
            <a:pPr marL="0" indent="0">
              <a:buNone/>
            </a:pPr>
            <a:endParaRPr lang="en-US" sz="1720" dirty="0"/>
          </a:p>
          <a:p>
            <a:pPr marL="0" indent="0">
              <a:buNone/>
            </a:pPr>
            <a:r>
              <a:rPr lang="en-US" sz="17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Chinese learners must recognise characters, distinguish tones, connect pinyin with written words, and understand sentence order.</a:t>
            </a:r>
            <a:endParaRPr lang="en-US" sz="1720" dirty="0"/>
          </a:p>
          <a:p>
            <a:pPr marL="0" indent="0">
              <a:buNone/>
            </a:pPr>
            <a:endParaRPr lang="en-US" sz="1720" dirty="0"/>
          </a:p>
          <a:p>
            <a:pPr marL="0" indent="0">
              <a:buNone/>
            </a:pPr>
            <a:r>
              <a:rPr lang="en-US" sz="17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Repetition without progression, feedback, and visible progress makes it difficult to sustain motivation.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914400" y="4754880"/>
            <a:ext cx="4892040" cy="685800"/>
          </a:xfrm>
          <a:prstGeom prst="roundRect">
            <a:avLst>
              <a:gd name="adj" fmla="val 10667"/>
            </a:avLst>
          </a:prstGeom>
          <a:solidFill>
            <a:srgbClr val="FFFFFF">
              <a:alpha val="82000"/>
            </a:srgbClr>
          </a:solidFill>
          <a:ln w="17780">
            <a:solidFill>
              <a:srgbClr val="38B7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946904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users: beginner and intermediate Chinese learners on Android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64224" y="1481328"/>
            <a:ext cx="4846320" cy="4023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Build a native Android app with a modular and maintainable structure.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Implement three mini-games: Character Matching, Pronunciation Quiz, and Word Puzzle.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Support user accounts, difficulty selection, local persistence, achievements, and progress tracking.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Provide an engaging learning workflow while remaining educationally meaningful.</a:t>
            </a:r>
            <a:endParaRPr lang="en-US" sz="1700" dirty="0"/>
          </a:p>
        </p:txBody>
      </p:sp>
      <p:pic>
        <p:nvPicPr>
          <p:cNvPr id="14" name="Image 0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15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pic>
        <p:nvPicPr>
          <p:cNvPr id="17" name="Picture 12" descr="8a7c0663-f7b2-4937-9eb5-b4aeb9d07c89_no_bg.png">
            <a:extLst>
              <a:ext uri="{FF2B5EF4-FFF2-40B4-BE49-F238E27FC236}">
                <a16:creationId xmlns:a16="http://schemas.microsoft.com/office/drawing/2014/main" id="{5B63F4DF-6AA4-41A6-A741-B8D2AD466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Overview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gamified mobile workflow that connects multiple learning tasks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234440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EEF5FB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39903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 Matching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77824" y="1801368"/>
            <a:ext cx="3154680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Pinyin → Chinese word association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word selection by difficulty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POS-tag distractors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Immediate answer feedback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4544568" y="1234440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F8FDF2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139903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Pronunciation Quiz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64024" y="1801368"/>
            <a:ext cx="3154680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Spoken output with evaluation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Hold-to-record interaction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 word + pinyin support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Score feedback for each attempt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8430768" y="1234440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FFF8EE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595360" y="139903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Puzzle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50224" y="1801368"/>
            <a:ext cx="3154680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Sentence-level reconstruction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Reorder or blank mode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Token-based sentence processing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Progress stored per session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4160520" y="3502152"/>
            <a:ext cx="3886200" cy="347472"/>
          </a:xfrm>
          <a:prstGeom prst="roundRect">
            <a:avLst>
              <a:gd name="adj" fmla="val 31579"/>
            </a:avLst>
          </a:prstGeom>
          <a:solidFill>
            <a:srgbClr val="EAF7FA"/>
          </a:solidFill>
          <a:ln w="12700">
            <a:solidFill>
              <a:srgbClr val="EAF7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3538728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support features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0120" y="3977640"/>
            <a:ext cx="190195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3970">
            <a:solidFill>
              <a:srgbClr val="38B7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33272" y="413308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management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200400" y="3977640"/>
            <a:ext cx="190195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3970">
            <a:solidFill>
              <a:srgbClr val="A7C0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73552" y="413308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Difficulty selection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440680" y="3977640"/>
            <a:ext cx="190195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3970">
            <a:solidFill>
              <a:srgbClr val="38B7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13832" y="413308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scores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7680960" y="3977640"/>
            <a:ext cx="190195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3970">
            <a:solidFill>
              <a:srgbClr val="A7C0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54112" y="413308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Achievements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9921240" y="3977640"/>
            <a:ext cx="190195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3970">
            <a:solidFill>
              <a:srgbClr val="38B7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94392" y="413308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&amp; progress</a:t>
            </a:r>
            <a:endParaRPr lang="en-US" sz="1220" dirty="0"/>
          </a:p>
        </p:txBody>
      </p:sp>
      <p:sp>
        <p:nvSpPr>
          <p:cNvPr id="25" name="Shape 23"/>
          <p:cNvSpPr/>
          <p:nvPr/>
        </p:nvSpPr>
        <p:spPr>
          <a:xfrm>
            <a:off x="877824" y="4901184"/>
            <a:ext cx="2029968" cy="56692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0976" y="4992624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/ Register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2944368" y="4901184"/>
            <a:ext cx="2029968" cy="56692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0" y="4992624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Game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5010912" y="4901184"/>
            <a:ext cx="2139696" cy="56692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84064" y="499262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by Difficulty</a:t>
            </a:r>
            <a:endParaRPr lang="en-US" sz="1220" dirty="0"/>
          </a:p>
        </p:txBody>
      </p:sp>
      <p:sp>
        <p:nvSpPr>
          <p:cNvPr id="31" name="Shape 29"/>
          <p:cNvSpPr/>
          <p:nvPr/>
        </p:nvSpPr>
        <p:spPr>
          <a:xfrm>
            <a:off x="7242048" y="4901184"/>
            <a:ext cx="1993392" cy="56692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0" y="4992624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Results</a:t>
            </a:r>
            <a:endParaRPr lang="en-US" sz="1220" dirty="0"/>
          </a:p>
        </p:txBody>
      </p:sp>
      <p:sp>
        <p:nvSpPr>
          <p:cNvPr id="33" name="Shape 31"/>
          <p:cNvSpPr/>
          <p:nvPr/>
        </p:nvSpPr>
        <p:spPr>
          <a:xfrm>
            <a:off x="9326880" y="4901184"/>
            <a:ext cx="1920240" cy="56692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00032" y="4992624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Progress</a:t>
            </a:r>
            <a:endParaRPr lang="en-US" sz="1220" dirty="0"/>
          </a:p>
        </p:txBody>
      </p:sp>
      <p:pic>
        <p:nvPicPr>
          <p:cNvPr id="35" name="Image 0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36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pic>
        <p:nvPicPr>
          <p:cNvPr id="38" name="Picture 12" descr="8a7c0663-f7b2-4937-9eb5-b4aeb9d07c89_no_bg.png">
            <a:extLst>
              <a:ext uri="{FF2B5EF4-FFF2-40B4-BE49-F238E27FC236}">
                <a16:creationId xmlns:a16="http://schemas.microsoft.com/office/drawing/2014/main" id="{A38BC56A-FCEE-407A-844B-967D0AE902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and Technology Stack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Unity concept to a native Android implementation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5669280" cy="4754880"/>
          </a:xfrm>
          <a:prstGeom prst="roundRect">
            <a:avLst>
              <a:gd name="adj" fmla="val 1538"/>
            </a:avLst>
          </a:prstGeom>
          <a:solidFill>
            <a:srgbClr val="F9FBFE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941832"/>
            <a:ext cx="1965960" cy="310896"/>
          </a:xfrm>
          <a:prstGeom prst="roundRect">
            <a:avLst>
              <a:gd name="adj" fmla="val 35294"/>
            </a:avLst>
          </a:prstGeom>
          <a:solidFill>
            <a:srgbClr val="DFF5F8"/>
          </a:solidFill>
          <a:ln w="12700">
            <a:solidFill>
              <a:srgbClr val="DFF5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9784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Layered architecture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05840" y="1444752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DF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17064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layer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2566993" y="1527048"/>
            <a:ext cx="3271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 + XML layouts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Login, game hub, profile, achievements, shared game UI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953512" y="2176272"/>
            <a:ext cx="1078992" cy="146304"/>
          </a:xfrm>
          <a:prstGeom prst="chevron">
            <a:avLst/>
          </a:prstGeom>
          <a:solidFill>
            <a:srgbClr val="BFD9E8"/>
          </a:solidFill>
          <a:ln w="12700">
            <a:solidFill>
              <a:srgbClr val="BF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432304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EAF0FF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268833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layer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2523743" y="2569464"/>
            <a:ext cx="320979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MainActivity, game_choice, GameActivity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Navigation, session flow, game dispatch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953512" y="3163824"/>
            <a:ext cx="1078992" cy="146304"/>
          </a:xfrm>
          <a:prstGeom prst="chevron">
            <a:avLst/>
          </a:prstGeom>
          <a:solidFill>
            <a:srgbClr val="BFD9E8"/>
          </a:solidFill>
          <a:ln w="12700">
            <a:solidFill>
              <a:srgbClr val="BFD9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3419856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F4F8FC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72409" y="36941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2523744" y="3529584"/>
            <a:ext cx="3314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74673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SQLite + DAO + DataManager</a:t>
            </a:r>
            <a:endParaRPr lang="en-US" sz="1200" dirty="0">
              <a:highlight>
                <a:srgbClr val="FFFF00"/>
              </a:highlight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274673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Users, scores, question details, sentences, word resources</a:t>
            </a:r>
            <a:endParaRPr lang="en-US" sz="1200" dirty="0">
              <a:highlight>
                <a:srgbClr val="FFFF00"/>
              </a:highlight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953512" y="4151376"/>
            <a:ext cx="1078992" cy="146304"/>
          </a:xfrm>
          <a:prstGeom prst="chevron">
            <a:avLst/>
          </a:prstGeom>
          <a:solidFill>
            <a:srgbClr val="BFD9E8"/>
          </a:solidFill>
          <a:ln w="12700">
            <a:solidFill>
              <a:srgbClr val="BFD9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4407408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EEF9F2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70432" y="461772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services</a:t>
            </a:r>
            <a:endParaRPr lang="en-US" sz="1420" dirty="0"/>
          </a:p>
        </p:txBody>
      </p:sp>
      <p:sp>
        <p:nvSpPr>
          <p:cNvPr id="21" name="Text 19"/>
          <p:cNvSpPr/>
          <p:nvPr/>
        </p:nvSpPr>
        <p:spPr>
          <a:xfrm>
            <a:off x="2523743" y="45720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200" dirty="0">
                <a:solidFill>
                  <a:srgbClr val="274673"/>
                </a:solidFill>
                <a:latin typeface="Arial" pitchFamily="34" charset="0"/>
                <a:cs typeface="Arial" pitchFamily="34" charset="-120"/>
              </a:rPr>
              <a:t>Speech evaluation / recognition components</a:t>
            </a:r>
          </a:p>
          <a:p>
            <a:r>
              <a:rPr lang="en-US" sz="1200" dirty="0">
                <a:solidFill>
                  <a:srgbClr val="274673"/>
                </a:solidFill>
                <a:latin typeface="Arial" pitchFamily="34" charset="0"/>
                <a:cs typeface="Arial" pitchFamily="34" charset="-120"/>
              </a:rPr>
              <a:t>HanLP-assisted sentence processing</a:t>
            </a:r>
          </a:p>
        </p:txBody>
      </p:sp>
      <p:sp>
        <p:nvSpPr>
          <p:cNvPr id="22" name="Shape 20"/>
          <p:cNvSpPr/>
          <p:nvPr/>
        </p:nvSpPr>
        <p:spPr>
          <a:xfrm>
            <a:off x="6455664" y="1115568"/>
            <a:ext cx="507492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93408" y="941832"/>
            <a:ext cx="1627632" cy="310896"/>
          </a:xfrm>
          <a:prstGeom prst="roundRect">
            <a:avLst>
              <a:gd name="adj" fmla="val 35294"/>
            </a:avLst>
          </a:prstGeom>
          <a:solidFill>
            <a:srgbClr val="EAF0FF"/>
          </a:solidFill>
          <a:ln w="12700">
            <a:solidFill>
              <a:srgbClr val="EAF0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93408" y="978408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stack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9984" y="1444752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DFF5F8"/>
          </a:solidFill>
          <a:ln w="10160">
            <a:solidFill>
              <a:srgbClr val="D2DF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39712" y="1545336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130" dirty="0"/>
          </a:p>
        </p:txBody>
      </p:sp>
      <p:sp>
        <p:nvSpPr>
          <p:cNvPr id="27" name="Text 25"/>
          <p:cNvSpPr/>
          <p:nvPr/>
        </p:nvSpPr>
        <p:spPr>
          <a:xfrm>
            <a:off x="8028432" y="149047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Android (Java + XML)</a:t>
            </a:r>
            <a:endParaRPr lang="en-US" sz="1280" dirty="0"/>
          </a:p>
        </p:txBody>
      </p:sp>
      <p:sp>
        <p:nvSpPr>
          <p:cNvPr id="28" name="Shape 26"/>
          <p:cNvSpPr/>
          <p:nvPr/>
        </p:nvSpPr>
        <p:spPr>
          <a:xfrm>
            <a:off x="6729984" y="2112264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F5F8FF"/>
          </a:solidFill>
          <a:ln w="10160">
            <a:solidFill>
              <a:srgbClr val="D2DF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39712" y="2212848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Persistence</a:t>
            </a:r>
            <a:endParaRPr lang="en-US" sz="1130" dirty="0"/>
          </a:p>
        </p:txBody>
      </p:sp>
      <p:sp>
        <p:nvSpPr>
          <p:cNvPr id="30" name="Text 28"/>
          <p:cNvSpPr/>
          <p:nvPr/>
        </p:nvSpPr>
        <p:spPr>
          <a:xfrm>
            <a:off x="8028432" y="215798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SQLite, DAO pattern, JSON-to-SQLite loading</a:t>
            </a:r>
            <a:endParaRPr lang="en-US" sz="1280" dirty="0"/>
          </a:p>
        </p:txBody>
      </p:sp>
      <p:sp>
        <p:nvSpPr>
          <p:cNvPr id="31" name="Shape 29"/>
          <p:cNvSpPr/>
          <p:nvPr/>
        </p:nvSpPr>
        <p:spPr>
          <a:xfrm>
            <a:off x="6729984" y="2779776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DFF5F8"/>
          </a:solidFill>
          <a:ln w="10160">
            <a:solidFill>
              <a:srgbClr val="D2DF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39712" y="2880360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control</a:t>
            </a:r>
            <a:endParaRPr lang="en-US" sz="1130" dirty="0"/>
          </a:p>
        </p:txBody>
      </p:sp>
      <p:sp>
        <p:nvSpPr>
          <p:cNvPr id="33" name="Text 31"/>
          <p:cNvSpPr/>
          <p:nvPr/>
        </p:nvSpPr>
        <p:spPr>
          <a:xfrm>
            <a:off x="8028432" y="2825496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GameActivity dispatching three modes</a:t>
            </a:r>
            <a:endParaRPr lang="en-US" sz="1280" dirty="0"/>
          </a:p>
        </p:txBody>
      </p:sp>
      <p:sp>
        <p:nvSpPr>
          <p:cNvPr id="34" name="Shape 32"/>
          <p:cNvSpPr/>
          <p:nvPr/>
        </p:nvSpPr>
        <p:spPr>
          <a:xfrm>
            <a:off x="6729984" y="3447288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F5F8FF"/>
          </a:solidFill>
          <a:ln w="10160">
            <a:solidFill>
              <a:srgbClr val="D2DF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39712" y="3547872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data</a:t>
            </a:r>
            <a:endParaRPr lang="en-US" sz="1130" dirty="0"/>
          </a:p>
        </p:txBody>
      </p:sp>
      <p:sp>
        <p:nvSpPr>
          <p:cNvPr id="36" name="Text 34"/>
          <p:cNvSpPr/>
          <p:nvPr/>
        </p:nvSpPr>
        <p:spPr>
          <a:xfrm>
            <a:off x="8028432" y="349300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HanLP / pinyin processing and sentence tokens</a:t>
            </a:r>
            <a:endParaRPr lang="en-US" sz="1280" dirty="0"/>
          </a:p>
        </p:txBody>
      </p:sp>
      <p:sp>
        <p:nvSpPr>
          <p:cNvPr id="37" name="Shape 35"/>
          <p:cNvSpPr/>
          <p:nvPr/>
        </p:nvSpPr>
        <p:spPr>
          <a:xfrm>
            <a:off x="6729984" y="4133088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DFF5F8"/>
          </a:solidFill>
          <a:ln w="10160">
            <a:solidFill>
              <a:srgbClr val="D2DFE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39712" y="4215384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module</a:t>
            </a:r>
            <a:endParaRPr lang="en-US" sz="1130" dirty="0"/>
          </a:p>
        </p:txBody>
      </p:sp>
      <p:sp>
        <p:nvSpPr>
          <p:cNvPr id="39" name="Text 37"/>
          <p:cNvSpPr/>
          <p:nvPr/>
        </p:nvSpPr>
        <p:spPr>
          <a:xfrm>
            <a:off x="8028432" y="41605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IseEvaluator + SpeechRecognitionHelper integration</a:t>
            </a:r>
            <a:endParaRPr lang="en-US" sz="1280" dirty="0"/>
          </a:p>
        </p:txBody>
      </p:sp>
      <p:sp>
        <p:nvSpPr>
          <p:cNvPr id="40" name="Shape 38"/>
          <p:cNvSpPr/>
          <p:nvPr/>
        </p:nvSpPr>
        <p:spPr>
          <a:xfrm>
            <a:off x="6729984" y="4782312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F5F8FF"/>
          </a:solidFill>
          <a:ln w="10160">
            <a:solidFill>
              <a:srgbClr val="D2DF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39712" y="4882896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evolution</a:t>
            </a:r>
            <a:endParaRPr lang="en-US" sz="1130" dirty="0"/>
          </a:p>
        </p:txBody>
      </p:sp>
      <p:sp>
        <p:nvSpPr>
          <p:cNvPr id="42" name="Text 40"/>
          <p:cNvSpPr/>
          <p:nvPr/>
        </p:nvSpPr>
        <p:spPr>
          <a:xfrm>
            <a:off x="8028432" y="48280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Unity idea migrated to native Android for maintainability</a:t>
            </a:r>
            <a:endParaRPr lang="en-US" sz="1280" dirty="0"/>
          </a:p>
        </p:txBody>
      </p:sp>
      <p:pic>
        <p:nvPicPr>
          <p:cNvPr id="43" name="Image 0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44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45" name="Text 41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pic>
        <p:nvPicPr>
          <p:cNvPr id="46" name="Picture 12" descr="8a7c0663-f7b2-4937-9eb5-b4aeb9d07c89_no_bg.png">
            <a:extLst>
              <a:ext uri="{FF2B5EF4-FFF2-40B4-BE49-F238E27FC236}">
                <a16:creationId xmlns:a16="http://schemas.microsoft.com/office/drawing/2014/main" id="{373977A3-E986-4424-B002-9929DC7A5F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 and Persistence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storage turns separate mini-games into one continuous learning system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152144"/>
            <a:ext cx="2267712" cy="4434840"/>
          </a:xfrm>
          <a:prstGeom prst="roundRect">
            <a:avLst>
              <a:gd name="adj" fmla="val 3226"/>
            </a:avLst>
          </a:prstGeom>
          <a:solidFill>
            <a:srgbClr val="F6FB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444752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in the current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database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69264" y="2770632"/>
            <a:ext cx="1664208" cy="0"/>
          </a:xfrm>
          <a:prstGeom prst="line">
            <a:avLst/>
          </a:prstGeom>
          <a:noFill/>
          <a:ln w="12700">
            <a:solidFill>
              <a:srgbClr val="C7DA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907792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grouped modules</a:t>
            </a:r>
            <a:endParaRPr lang="en-US" sz="1430" dirty="0"/>
          </a:p>
        </p:txBody>
      </p:sp>
      <p:sp>
        <p:nvSpPr>
          <p:cNvPr id="9" name="Shape 7"/>
          <p:cNvSpPr/>
          <p:nvPr/>
        </p:nvSpPr>
        <p:spPr>
          <a:xfrm>
            <a:off x="868680" y="3310128"/>
            <a:ext cx="1847088" cy="310896"/>
          </a:xfrm>
          <a:prstGeom prst="roundRect">
            <a:avLst>
              <a:gd name="adj" fmla="val 11765"/>
            </a:avLst>
          </a:prstGeom>
          <a:solidFill>
            <a:srgbClr val="DFF5F8"/>
          </a:solidFill>
          <a:ln w="10160">
            <a:solidFill>
              <a:srgbClr val="D4E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3401568"/>
            <a:ext cx="1627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1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&amp; achievements</a:t>
            </a:r>
            <a:endParaRPr lang="en-US" sz="1110" dirty="0"/>
          </a:p>
        </p:txBody>
      </p:sp>
      <p:sp>
        <p:nvSpPr>
          <p:cNvPr id="11" name="Shape 9"/>
          <p:cNvSpPr/>
          <p:nvPr/>
        </p:nvSpPr>
        <p:spPr>
          <a:xfrm>
            <a:off x="868680" y="3794760"/>
            <a:ext cx="1847088" cy="310896"/>
          </a:xfrm>
          <a:prstGeom prst="roundRect">
            <a:avLst>
              <a:gd name="adj" fmla="val 11765"/>
            </a:avLst>
          </a:prstGeom>
          <a:solidFill>
            <a:srgbClr val="ECF3FF"/>
          </a:solidFill>
          <a:ln w="10160">
            <a:solidFill>
              <a:srgbClr val="D4E0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886200"/>
            <a:ext cx="1627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1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records</a:t>
            </a:r>
            <a:endParaRPr lang="en-US" sz="1110" dirty="0"/>
          </a:p>
        </p:txBody>
      </p:sp>
      <p:sp>
        <p:nvSpPr>
          <p:cNvPr id="13" name="Shape 11"/>
          <p:cNvSpPr/>
          <p:nvPr/>
        </p:nvSpPr>
        <p:spPr>
          <a:xfrm>
            <a:off x="868680" y="4279392"/>
            <a:ext cx="1847088" cy="310896"/>
          </a:xfrm>
          <a:prstGeom prst="roundRect">
            <a:avLst>
              <a:gd name="adj" fmla="val 11765"/>
            </a:avLst>
          </a:prstGeom>
          <a:solidFill>
            <a:srgbClr val="DFF5F8"/>
          </a:solidFill>
          <a:ln w="10160">
            <a:solidFill>
              <a:srgbClr val="D4E0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4370832"/>
            <a:ext cx="1627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1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 resources</a:t>
            </a:r>
            <a:endParaRPr lang="en-US" sz="1110" dirty="0"/>
          </a:p>
        </p:txBody>
      </p:sp>
      <p:sp>
        <p:nvSpPr>
          <p:cNvPr id="15" name="Shape 13"/>
          <p:cNvSpPr/>
          <p:nvPr/>
        </p:nvSpPr>
        <p:spPr>
          <a:xfrm>
            <a:off x="868680" y="4764024"/>
            <a:ext cx="1847088" cy="310896"/>
          </a:xfrm>
          <a:prstGeom prst="roundRect">
            <a:avLst>
              <a:gd name="adj" fmla="val 11765"/>
            </a:avLst>
          </a:prstGeom>
          <a:solidFill>
            <a:srgbClr val="ECF3FF"/>
          </a:solidFill>
          <a:ln w="10160">
            <a:solidFill>
              <a:srgbClr val="D4E0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855464"/>
            <a:ext cx="1627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1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question banks</a:t>
            </a:r>
            <a:endParaRPr lang="en-US" sz="1110" dirty="0"/>
          </a:p>
        </p:txBody>
      </p:sp>
      <p:sp>
        <p:nvSpPr>
          <p:cNvPr id="17" name="Shape 15"/>
          <p:cNvSpPr/>
          <p:nvPr/>
        </p:nvSpPr>
        <p:spPr>
          <a:xfrm>
            <a:off x="3127248" y="1152144"/>
            <a:ext cx="8403336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46704" y="969264"/>
            <a:ext cx="2212848" cy="310896"/>
          </a:xfrm>
          <a:prstGeom prst="roundRect">
            <a:avLst>
              <a:gd name="adj" fmla="val 35294"/>
            </a:avLst>
          </a:prstGeom>
          <a:solidFill>
            <a:srgbClr val="DFF5F8"/>
          </a:solidFill>
          <a:ln w="12700">
            <a:solidFill>
              <a:srgbClr val="DFF5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46704" y="100584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table groups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383280" y="1517904"/>
            <a:ext cx="2395728" cy="987552"/>
          </a:xfrm>
          <a:prstGeom prst="roundRect">
            <a:avLst>
              <a:gd name="adj" fmla="val 5556"/>
            </a:avLst>
          </a:prstGeom>
          <a:solidFill>
            <a:srgbClr val="EAF7FA"/>
          </a:solidFill>
          <a:ln w="11430">
            <a:solidFill>
              <a:srgbClr val="C9DB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11296" y="1618488"/>
            <a:ext cx="2139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module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3529584" y="1993392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  •   achievements   •   user_achievements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5961888" y="1517904"/>
            <a:ext cx="2395728" cy="987552"/>
          </a:xfrm>
          <a:prstGeom prst="roundRect">
            <a:avLst>
              <a:gd name="adj" fmla="val 5556"/>
            </a:avLst>
          </a:prstGeom>
          <a:solidFill>
            <a:srgbClr val="EEF3FF"/>
          </a:solidFill>
          <a:ln w="11430">
            <a:solidFill>
              <a:srgbClr val="C9DB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9904" y="1618488"/>
            <a:ext cx="2139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records</a:t>
            </a:r>
            <a:endParaRPr lang="en-US" sz="1420" dirty="0"/>
          </a:p>
        </p:txBody>
      </p:sp>
      <p:sp>
        <p:nvSpPr>
          <p:cNvPr id="25" name="Text 23"/>
          <p:cNvSpPr/>
          <p:nvPr/>
        </p:nvSpPr>
        <p:spPr>
          <a:xfrm>
            <a:off x="6108192" y="1993392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game_scores   •   game_question_details</a:t>
            </a:r>
            <a:endParaRPr lang="en-US" sz="1220" dirty="0"/>
          </a:p>
        </p:txBody>
      </p:sp>
      <p:sp>
        <p:nvSpPr>
          <p:cNvPr id="26" name="Shape 24"/>
          <p:cNvSpPr/>
          <p:nvPr/>
        </p:nvSpPr>
        <p:spPr>
          <a:xfrm>
            <a:off x="8540496" y="1517904"/>
            <a:ext cx="1801368" cy="987552"/>
          </a:xfrm>
          <a:prstGeom prst="roundRect">
            <a:avLst>
              <a:gd name="adj" fmla="val 5556"/>
            </a:avLst>
          </a:prstGeom>
          <a:solidFill>
            <a:srgbClr val="F3FAEF"/>
          </a:solidFill>
          <a:ln w="11430">
            <a:solidFill>
              <a:srgbClr val="C9DB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68512" y="1618488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420" dirty="0"/>
          </a:p>
        </p:txBody>
      </p:sp>
      <p:sp>
        <p:nvSpPr>
          <p:cNvPr id="28" name="Text 26"/>
          <p:cNvSpPr/>
          <p:nvPr/>
        </p:nvSpPr>
        <p:spPr>
          <a:xfrm>
            <a:off x="8686800" y="1993392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sentences   •   sentence_words   •   game_words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3383280" y="2670048"/>
            <a:ext cx="6958584" cy="1024128"/>
          </a:xfrm>
          <a:prstGeom prst="roundRect">
            <a:avLst>
              <a:gd name="adj" fmla="val 5357"/>
            </a:avLst>
          </a:prstGeom>
          <a:solidFill>
            <a:srgbClr val="FFF8EE"/>
          </a:solidFill>
          <a:ln w="11430">
            <a:solidFill>
              <a:srgbClr val="C9DBE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11296" y="2770632"/>
            <a:ext cx="6702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banks</a:t>
            </a:r>
            <a:endParaRPr lang="en-US" sz="1420" dirty="0"/>
          </a:p>
        </p:txBody>
      </p:sp>
      <p:sp>
        <p:nvSpPr>
          <p:cNvPr id="31" name="Text 29"/>
          <p:cNvSpPr/>
          <p:nvPr/>
        </p:nvSpPr>
        <p:spPr>
          <a:xfrm>
            <a:off x="3529584" y="3145536"/>
            <a:ext cx="6665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character_matching   •   pronunciation_quiz   •   word_puzzle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3127248" y="4407408"/>
            <a:ext cx="8403336" cy="1179576"/>
          </a:xfrm>
          <a:prstGeom prst="roundRect">
            <a:avLst>
              <a:gd name="adj" fmla="val 6202"/>
            </a:avLst>
          </a:prstGeom>
          <a:solidFill>
            <a:srgbClr val="F9FBFE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346704" y="4242816"/>
            <a:ext cx="2542032" cy="310896"/>
          </a:xfrm>
          <a:prstGeom prst="roundRect">
            <a:avLst>
              <a:gd name="adj" fmla="val 35294"/>
            </a:avLst>
          </a:prstGeom>
          <a:solidFill>
            <a:srgbClr val="EAF0FF"/>
          </a:solidFill>
          <a:ln w="12700">
            <a:solidFill>
              <a:srgbClr val="EAF0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46704" y="427939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→ SQLite pipeline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3456432" y="4754880"/>
            <a:ext cx="1572768" cy="47548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29584" y="4846320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assets</a:t>
            </a:r>
            <a:endParaRPr lang="en-US" sz="1220" dirty="0"/>
          </a:p>
        </p:txBody>
      </p:sp>
      <p:sp>
        <p:nvSpPr>
          <p:cNvPr id="37" name="Shape 35"/>
          <p:cNvSpPr/>
          <p:nvPr/>
        </p:nvSpPr>
        <p:spPr>
          <a:xfrm>
            <a:off x="5148072" y="4754880"/>
            <a:ext cx="1783080" cy="47548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21224" y="4846320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DataManager</a:t>
            </a:r>
            <a:endParaRPr lang="en-US" sz="1220" dirty="0"/>
          </a:p>
        </p:txBody>
      </p:sp>
      <p:sp>
        <p:nvSpPr>
          <p:cNvPr id="39" name="Shape 37"/>
          <p:cNvSpPr/>
          <p:nvPr/>
        </p:nvSpPr>
        <p:spPr>
          <a:xfrm>
            <a:off x="7068312" y="4754880"/>
            <a:ext cx="1691640" cy="47548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41464" y="484632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loader</a:t>
            </a:r>
            <a:endParaRPr lang="en-US" sz="1220" dirty="0"/>
          </a:p>
        </p:txBody>
      </p:sp>
      <p:sp>
        <p:nvSpPr>
          <p:cNvPr id="41" name="Shape 39"/>
          <p:cNvSpPr/>
          <p:nvPr/>
        </p:nvSpPr>
        <p:spPr>
          <a:xfrm>
            <a:off x="8906256" y="4754880"/>
            <a:ext cx="1572768" cy="47548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79408" y="4846320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220" dirty="0"/>
          </a:p>
        </p:txBody>
      </p:sp>
      <p:sp>
        <p:nvSpPr>
          <p:cNvPr id="43" name="Shape 41"/>
          <p:cNvSpPr/>
          <p:nvPr/>
        </p:nvSpPr>
        <p:spPr>
          <a:xfrm>
            <a:off x="10607040" y="4754880"/>
            <a:ext cx="694944" cy="475488"/>
          </a:xfrm>
          <a:prstGeom prst="roundRect">
            <a:avLst>
              <a:gd name="adj" fmla="val 7692"/>
            </a:avLst>
          </a:prstGeom>
          <a:solidFill>
            <a:srgbClr val="DFF5F8"/>
          </a:solidFill>
          <a:ln w="10160">
            <a:solidFill>
              <a:srgbClr val="BBD7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80192" y="4946904"/>
            <a:ext cx="548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</a:t>
            </a:r>
            <a:endParaRPr lang="en-US" sz="1220" dirty="0"/>
          </a:p>
        </p:txBody>
      </p:sp>
      <p:pic>
        <p:nvPicPr>
          <p:cNvPr id="45" name="Image 0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46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pic>
        <p:nvPicPr>
          <p:cNvPr id="48" name="Picture 12" descr="8a7c0663-f7b2-4937-9eb5-b4aeb9d07c89_no_bg.png">
            <a:extLst>
              <a:ext uri="{FF2B5EF4-FFF2-40B4-BE49-F238E27FC236}">
                <a16:creationId xmlns:a16="http://schemas.microsoft.com/office/drawing/2014/main" id="{847F2C66-4465-487B-9387-D15529E741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Gameplay Implementation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three modules are built and evaluated at runtime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1225296"/>
            <a:ext cx="3154680" cy="3273552"/>
          </a:xfrm>
          <a:prstGeom prst="roundRect">
            <a:avLst>
              <a:gd name="adj" fmla="val 2319"/>
            </a:avLst>
          </a:prstGeom>
          <a:solidFill>
            <a:srgbClr val="EEF5FB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444752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Character Matching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877824" y="1920240"/>
            <a:ext cx="146304" cy="146304"/>
          </a:xfrm>
          <a:prstGeom prst="ellipse">
            <a:avLst/>
          </a:prstGeom>
          <a:solidFill>
            <a:srgbClr val="38B7C9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86537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questions per session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877824" y="2450592"/>
            <a:ext cx="146304" cy="146304"/>
          </a:xfrm>
          <a:prstGeom prst="ellipse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3957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words by difficulty</a:t>
            </a:r>
            <a:endParaRPr lang="en-US" sz="1340" dirty="0"/>
          </a:p>
        </p:txBody>
      </p:sp>
      <p:sp>
        <p:nvSpPr>
          <p:cNvPr id="10" name="Shape 8"/>
          <p:cNvSpPr/>
          <p:nvPr/>
        </p:nvSpPr>
        <p:spPr>
          <a:xfrm>
            <a:off x="877824" y="2980944"/>
            <a:ext cx="146304" cy="146304"/>
          </a:xfrm>
          <a:prstGeom prst="ellipse">
            <a:avLst/>
          </a:prstGeom>
          <a:solidFill>
            <a:srgbClr val="38B7C9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292608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POS-tag distractors</a:t>
            </a:r>
            <a:endParaRPr lang="en-US" sz="1340" dirty="0"/>
          </a:p>
        </p:txBody>
      </p:sp>
      <p:sp>
        <p:nvSpPr>
          <p:cNvPr id="12" name="Shape 10"/>
          <p:cNvSpPr/>
          <p:nvPr/>
        </p:nvSpPr>
        <p:spPr>
          <a:xfrm>
            <a:off x="877824" y="3511296"/>
            <a:ext cx="146304" cy="146304"/>
          </a:xfrm>
          <a:prstGeom prst="ellipse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45643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correctness feedback</a:t>
            </a:r>
            <a:endParaRPr lang="en-US" sz="1340" dirty="0"/>
          </a:p>
        </p:txBody>
      </p:sp>
      <p:sp>
        <p:nvSpPr>
          <p:cNvPr id="14" name="Shape 12"/>
          <p:cNvSpPr/>
          <p:nvPr/>
        </p:nvSpPr>
        <p:spPr>
          <a:xfrm>
            <a:off x="4133088" y="1225296"/>
            <a:ext cx="3154680" cy="3273552"/>
          </a:xfrm>
          <a:prstGeom prst="roundRect">
            <a:avLst>
              <a:gd name="adj" fmla="val 2319"/>
            </a:avLst>
          </a:prstGeom>
          <a:solidFill>
            <a:srgbClr val="F3FAE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06824" y="1444752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Pronunciation Quiz</a:t>
            </a:r>
            <a:endParaRPr lang="en-US" sz="1720" dirty="0"/>
          </a:p>
        </p:txBody>
      </p:sp>
      <p:sp>
        <p:nvSpPr>
          <p:cNvPr id="16" name="Shape 14"/>
          <p:cNvSpPr/>
          <p:nvPr/>
        </p:nvSpPr>
        <p:spPr>
          <a:xfrm>
            <a:off x="4361688" y="1920240"/>
            <a:ext cx="146304" cy="146304"/>
          </a:xfrm>
          <a:prstGeom prst="ellipse">
            <a:avLst/>
          </a:prstGeom>
          <a:solidFill>
            <a:srgbClr val="38B7C9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1144" y="186537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word + pinyin display</a:t>
            </a:r>
            <a:endParaRPr lang="en-US" sz="1340" dirty="0"/>
          </a:p>
        </p:txBody>
      </p:sp>
      <p:sp>
        <p:nvSpPr>
          <p:cNvPr id="18" name="Shape 16"/>
          <p:cNvSpPr/>
          <p:nvPr/>
        </p:nvSpPr>
        <p:spPr>
          <a:xfrm>
            <a:off x="4361688" y="2450592"/>
            <a:ext cx="146304" cy="146304"/>
          </a:xfrm>
          <a:prstGeom prst="ellipse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1144" y="23957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Hold-to-record interaction</a:t>
            </a:r>
            <a:endParaRPr lang="en-US" sz="1340" dirty="0"/>
          </a:p>
        </p:txBody>
      </p:sp>
      <p:sp>
        <p:nvSpPr>
          <p:cNvPr id="20" name="Shape 18"/>
          <p:cNvSpPr/>
          <p:nvPr/>
        </p:nvSpPr>
        <p:spPr>
          <a:xfrm>
            <a:off x="4361688" y="2980944"/>
            <a:ext cx="146304" cy="146304"/>
          </a:xfrm>
          <a:prstGeom prst="ellipse">
            <a:avLst/>
          </a:prstGeom>
          <a:solidFill>
            <a:srgbClr val="38B7C9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81144" y="292608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callback and score mapping</a:t>
            </a:r>
            <a:endParaRPr lang="en-US" sz="1340" dirty="0"/>
          </a:p>
        </p:txBody>
      </p:sp>
      <p:sp>
        <p:nvSpPr>
          <p:cNvPr id="22" name="Shape 20"/>
          <p:cNvSpPr/>
          <p:nvPr/>
        </p:nvSpPr>
        <p:spPr>
          <a:xfrm>
            <a:off x="4361688" y="3511296"/>
            <a:ext cx="146304" cy="146304"/>
          </a:xfrm>
          <a:prstGeom prst="ellipse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81144" y="345643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per-question pronunciation result</a:t>
            </a:r>
            <a:endParaRPr lang="en-US" sz="1340" dirty="0"/>
          </a:p>
        </p:txBody>
      </p:sp>
      <p:sp>
        <p:nvSpPr>
          <p:cNvPr id="24" name="Shape 22"/>
          <p:cNvSpPr/>
          <p:nvPr/>
        </p:nvSpPr>
        <p:spPr>
          <a:xfrm>
            <a:off x="7626096" y="1225296"/>
            <a:ext cx="3154680" cy="3273552"/>
          </a:xfrm>
          <a:prstGeom prst="roundRect">
            <a:avLst>
              <a:gd name="adj" fmla="val 2319"/>
            </a:avLst>
          </a:prstGeom>
          <a:solidFill>
            <a:srgbClr val="FFF8EE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90688" y="1444752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Word Puzzle</a:t>
            </a:r>
            <a:endParaRPr lang="en-US" sz="1720" dirty="0"/>
          </a:p>
        </p:txBody>
      </p:sp>
      <p:sp>
        <p:nvSpPr>
          <p:cNvPr id="26" name="Shape 24"/>
          <p:cNvSpPr/>
          <p:nvPr/>
        </p:nvSpPr>
        <p:spPr>
          <a:xfrm>
            <a:off x="7845552" y="1920240"/>
            <a:ext cx="146304" cy="146304"/>
          </a:xfrm>
          <a:prstGeom prst="ellipse">
            <a:avLst/>
          </a:prstGeom>
          <a:solidFill>
            <a:srgbClr val="38B7C9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65008" y="186537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Sentence tokens loaded from SQLite</a:t>
            </a:r>
            <a:endParaRPr lang="en-US" sz="1340" dirty="0">
              <a:highlight>
                <a:srgbClr val="FFFF00"/>
              </a:highlight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845552" y="2450592"/>
            <a:ext cx="146304" cy="146304"/>
          </a:xfrm>
          <a:prstGeom prst="ellipse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65008" y="23957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Reorder or blank mode by complexity</a:t>
            </a:r>
            <a:endParaRPr lang="en-US" sz="1340" dirty="0"/>
          </a:p>
        </p:txBody>
      </p:sp>
      <p:sp>
        <p:nvSpPr>
          <p:cNvPr id="30" name="Shape 28"/>
          <p:cNvSpPr/>
          <p:nvPr/>
        </p:nvSpPr>
        <p:spPr>
          <a:xfrm>
            <a:off x="7845552" y="2980944"/>
            <a:ext cx="146304" cy="146304"/>
          </a:xfrm>
          <a:prstGeom prst="ellipse">
            <a:avLst/>
          </a:prstGeom>
          <a:solidFill>
            <a:srgbClr val="38B7C9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65008" y="292608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when token data are missing</a:t>
            </a:r>
            <a:endParaRPr lang="en-US" sz="1340" dirty="0"/>
          </a:p>
        </p:txBody>
      </p:sp>
      <p:sp>
        <p:nvSpPr>
          <p:cNvPr id="32" name="Shape 30"/>
          <p:cNvSpPr/>
          <p:nvPr/>
        </p:nvSpPr>
        <p:spPr>
          <a:xfrm>
            <a:off x="7845552" y="3511296"/>
            <a:ext cx="146304" cy="146304"/>
          </a:xfrm>
          <a:prstGeom prst="ellipse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65008" y="345643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Sentence-level result persistence</a:t>
            </a:r>
            <a:endParaRPr lang="en-US" sz="1340" dirty="0"/>
          </a:p>
        </p:txBody>
      </p:sp>
      <p:sp>
        <p:nvSpPr>
          <p:cNvPr id="34" name="Shape 32"/>
          <p:cNvSpPr/>
          <p:nvPr/>
        </p:nvSpPr>
        <p:spPr>
          <a:xfrm>
            <a:off x="658368" y="4736592"/>
            <a:ext cx="10872216" cy="804672"/>
          </a:xfrm>
          <a:prstGeom prst="roundRect">
            <a:avLst>
              <a:gd name="adj" fmla="val 9091"/>
            </a:avLst>
          </a:prstGeom>
          <a:solidFill>
            <a:srgbClr val="F9FBFE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22960" y="4860036"/>
            <a:ext cx="228155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highlights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887610" y="4821359"/>
            <a:ext cx="8465615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GameActivity dispatches the three modes; session summaries are stored in game_scores and detailed answers in game_question_details; the pronunciation module uses evaluation callbacks, while Word Puzzle switches between reorder and blank-style tasks based on sentence length and token count.</a:t>
            </a:r>
            <a:endParaRPr lang="en-US" sz="1100" dirty="0"/>
          </a:p>
        </p:txBody>
      </p:sp>
      <p:pic>
        <p:nvPicPr>
          <p:cNvPr id="37" name="Image 0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38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pic>
        <p:nvPicPr>
          <p:cNvPr id="40" name="Picture 12" descr="8a7c0663-f7b2-4937-9eb5-b4aeb9d07c89_no_bg.png">
            <a:extLst>
              <a:ext uri="{FF2B5EF4-FFF2-40B4-BE49-F238E27FC236}">
                <a16:creationId xmlns:a16="http://schemas.microsoft.com/office/drawing/2014/main" id="{F23D8D7D-0544-4660-80B5-7E733936C6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and Result Snapshots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from the implemented prototype shown in the dissertation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13232" y="1234439"/>
            <a:ext cx="5440680" cy="4788243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033272"/>
            <a:ext cx="5221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&amp; account flow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035040" y="1234440"/>
            <a:ext cx="5440680" cy="4788242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144768" y="1033272"/>
            <a:ext cx="5221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 Matching feedback</a:t>
            </a:r>
            <a:endParaRPr lang="en-US" sz="1350" dirty="0"/>
          </a:p>
        </p:txBody>
      </p:sp>
      <p:pic>
        <p:nvPicPr>
          <p:cNvPr id="16" name="Image 4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17" name="Image 5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266628F4-1D17-4653-BC89-78BBF12B4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142" y="1321058"/>
            <a:ext cx="2495322" cy="461500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FB77EFC1-0180-44BF-B82F-FEC3E9A905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821" y="1321058"/>
            <a:ext cx="2495321" cy="4615004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51F286B5-EC38-46DC-9287-BC44DE0B51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607" y="1298448"/>
            <a:ext cx="2507548" cy="4637617"/>
          </a:xfrm>
          <a:prstGeom prst="rect">
            <a:avLst/>
          </a:prstGeom>
        </p:spPr>
      </p:pic>
      <p:pic>
        <p:nvPicPr>
          <p:cNvPr id="19" name="Picture 12" descr="8a7c0663-f7b2-4937-9eb5-b4aeb9d07c89_no_bg.png">
            <a:extLst>
              <a:ext uri="{FF2B5EF4-FFF2-40B4-BE49-F238E27FC236}">
                <a16:creationId xmlns:a16="http://schemas.microsoft.com/office/drawing/2014/main" id="{5D1F385F-AC28-4745-B997-B80C1721D6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87ABA083-CF95-4FB5-A2F0-D23D776590B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3501" y="1298449"/>
            <a:ext cx="2507547" cy="463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853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and Result Snapshots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from the implemented prototype shown in the dissertation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13232" y="1174386"/>
            <a:ext cx="5440680" cy="4878942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973218"/>
            <a:ext cx="5221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Pronunciation evaluation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035040" y="1211208"/>
            <a:ext cx="5440680" cy="4864979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144768" y="996696"/>
            <a:ext cx="5221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Puzzle interaction</a:t>
            </a:r>
            <a:endParaRPr lang="en-US" sz="1350" dirty="0"/>
          </a:p>
        </p:txBody>
      </p:sp>
      <p:pic>
        <p:nvPicPr>
          <p:cNvPr id="16" name="Image 4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17" name="Image 5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8</a:t>
            </a:r>
            <a:endParaRPr lang="en-US" sz="1100" dirty="0"/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EF117265-FF5A-4BD0-A630-62F7818F71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45" y="1281272"/>
            <a:ext cx="2543091" cy="4703352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B17730A3-2669-4504-8140-DECD0D3BD5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37437" y="1270769"/>
            <a:ext cx="2551309" cy="4718550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5EAEC3AB-6D4B-404A-BCA4-28D391D078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6611" y="1270769"/>
            <a:ext cx="2548769" cy="4713854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5701E11B-011E-416E-9CB0-456913868E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55380" y="1266074"/>
            <a:ext cx="2553846" cy="4723245"/>
          </a:xfrm>
          <a:prstGeom prst="rect">
            <a:avLst/>
          </a:prstGeom>
        </p:spPr>
      </p:pic>
      <p:pic>
        <p:nvPicPr>
          <p:cNvPr id="19" name="Picture 12" descr="8a7c0663-f7b2-4937-9eb5-b4aeb9d07c89_no_bg.png">
            <a:extLst>
              <a:ext uri="{FF2B5EF4-FFF2-40B4-BE49-F238E27FC236}">
                <a16:creationId xmlns:a16="http://schemas.microsoft.com/office/drawing/2014/main" id="{5D1F385F-AC28-4745-B997-B80C1721D69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and Result Snapshots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from the implemented prototype shown in the dissertation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13232" y="1174386"/>
            <a:ext cx="10808208" cy="4878942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3380809" y="982362"/>
            <a:ext cx="5221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40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Profile/progress evidence</a:t>
            </a:r>
            <a:endParaRPr lang="en-US" altLang="zh-CN" sz="1400" dirty="0"/>
          </a:p>
        </p:txBody>
      </p:sp>
      <p:pic>
        <p:nvPicPr>
          <p:cNvPr id="16" name="Image 4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17" name="Image 5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9</a:t>
            </a:r>
            <a:endParaRPr lang="en-US" sz="1100" dirty="0"/>
          </a:p>
        </p:txBody>
      </p:sp>
      <p:pic>
        <p:nvPicPr>
          <p:cNvPr id="19" name="Picture 12" descr="8a7c0663-f7b2-4937-9eb5-b4aeb9d07c89_no_bg.png">
            <a:extLst>
              <a:ext uri="{FF2B5EF4-FFF2-40B4-BE49-F238E27FC236}">
                <a16:creationId xmlns:a16="http://schemas.microsoft.com/office/drawing/2014/main" id="{5D1F385F-AC28-4745-B997-B80C1721D6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  <p:pic>
        <p:nvPicPr>
          <p:cNvPr id="20" name="Image 0" descr="/mnt/data/work/crops3/profile_single.png">
            <a:extLst>
              <a:ext uri="{FF2B5EF4-FFF2-40B4-BE49-F238E27FC236}">
                <a16:creationId xmlns:a16="http://schemas.microsoft.com/office/drawing/2014/main" id="{F9A30FC1-40BE-48ED-AA10-593670DB21D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9754"/>
          <a:stretch/>
        </p:blipFill>
        <p:spPr>
          <a:xfrm>
            <a:off x="1796395" y="1196629"/>
            <a:ext cx="2640338" cy="4802611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0A07F080-2D4D-42AB-852B-2C31E6AD296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1325" y="1196629"/>
            <a:ext cx="2596486" cy="4802104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8A6FE7C7-1BD2-4504-8BAB-A00612E6BDE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27458" y="1213687"/>
            <a:ext cx="2549150" cy="4714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154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Against the Original Objectives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3028" y="630936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core goals were achieved; full-scale user evaluation remains future work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152144"/>
            <a:ext cx="6629400" cy="4736592"/>
          </a:xfrm>
          <a:prstGeom prst="roundRect">
            <a:avLst>
              <a:gd name="adj" fmla="val 1544"/>
            </a:avLst>
          </a:prstGeom>
          <a:solidFill>
            <a:srgbClr val="F9FBFE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969264"/>
            <a:ext cx="2359152" cy="310896"/>
          </a:xfrm>
          <a:prstGeom prst="roundRect">
            <a:avLst>
              <a:gd name="adj" fmla="val 35294"/>
            </a:avLst>
          </a:prstGeom>
          <a:solidFill>
            <a:srgbClr val="DFF5F8"/>
          </a:solidFill>
          <a:ln w="12700">
            <a:solidFill>
              <a:srgbClr val="DFF5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00584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status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96112" y="1444752"/>
            <a:ext cx="5930996" cy="33832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D7E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554480"/>
            <a:ext cx="3520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and learner needs analysis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5732051" y="1495044"/>
            <a:ext cx="983845" cy="256032"/>
          </a:xfrm>
          <a:prstGeom prst="roundRect">
            <a:avLst>
              <a:gd name="adj" fmla="val 14286"/>
            </a:avLst>
          </a:prstGeom>
          <a:solidFill>
            <a:srgbClr val="F1FAE8"/>
          </a:solidFill>
          <a:ln w="10160">
            <a:solidFill>
              <a:srgbClr val="A5D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14101" y="1559052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42117" y="1549908"/>
            <a:ext cx="6161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96111" y="2039112"/>
            <a:ext cx="5930995" cy="338328"/>
          </a:xfrm>
          <a:prstGeom prst="roundRect">
            <a:avLst>
              <a:gd name="adj" fmla="val 9524"/>
            </a:avLst>
          </a:prstGeom>
          <a:solidFill>
            <a:srgbClr val="F4F8FC"/>
          </a:solidFill>
          <a:ln w="10160">
            <a:solidFill>
              <a:srgbClr val="D7E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148840"/>
            <a:ext cx="3520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native Android architecture</a:t>
            </a:r>
            <a:endParaRPr lang="en-US" sz="1260" dirty="0"/>
          </a:p>
        </p:txBody>
      </p:sp>
      <p:sp>
        <p:nvSpPr>
          <p:cNvPr id="17" name="Shape 15"/>
          <p:cNvSpPr/>
          <p:nvPr/>
        </p:nvSpPr>
        <p:spPr>
          <a:xfrm>
            <a:off x="896112" y="2633472"/>
            <a:ext cx="5930994" cy="33832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D7E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2743200"/>
            <a:ext cx="3520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educational mini-games</a:t>
            </a:r>
            <a:endParaRPr lang="en-US" sz="1260" dirty="0"/>
          </a:p>
        </p:txBody>
      </p:sp>
      <p:sp>
        <p:nvSpPr>
          <p:cNvPr id="20" name="Text 18"/>
          <p:cNvSpPr/>
          <p:nvPr/>
        </p:nvSpPr>
        <p:spPr>
          <a:xfrm>
            <a:off x="4754880" y="2720340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96111" y="3227832"/>
            <a:ext cx="5930993" cy="329184"/>
          </a:xfrm>
          <a:prstGeom prst="roundRect">
            <a:avLst>
              <a:gd name="adj" fmla="val 9524"/>
            </a:avLst>
          </a:prstGeom>
          <a:solidFill>
            <a:srgbClr val="F4F8FC"/>
          </a:solidFill>
          <a:ln w="10160">
            <a:solidFill>
              <a:srgbClr val="D7E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3337560"/>
            <a:ext cx="3520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+ JSON-backed content pipeline</a:t>
            </a:r>
            <a:endParaRPr lang="en-US" sz="1260" dirty="0"/>
          </a:p>
        </p:txBody>
      </p:sp>
      <p:sp>
        <p:nvSpPr>
          <p:cNvPr id="27" name="Shape 25"/>
          <p:cNvSpPr/>
          <p:nvPr/>
        </p:nvSpPr>
        <p:spPr>
          <a:xfrm>
            <a:off x="896112" y="3822192"/>
            <a:ext cx="5930992" cy="393192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D7E3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3931920"/>
            <a:ext cx="3520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tracking and achievements</a:t>
            </a:r>
            <a:endParaRPr lang="en-US" sz="1260" dirty="0"/>
          </a:p>
        </p:txBody>
      </p:sp>
      <p:sp>
        <p:nvSpPr>
          <p:cNvPr id="30" name="Text 28"/>
          <p:cNvSpPr/>
          <p:nvPr/>
        </p:nvSpPr>
        <p:spPr>
          <a:xfrm>
            <a:off x="4754880" y="3909060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479792" y="1152144"/>
            <a:ext cx="4050792" cy="4736592"/>
          </a:xfrm>
          <a:prstGeom prst="roundRect">
            <a:avLst>
              <a:gd name="adj" fmla="val 1806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717536" y="969264"/>
            <a:ext cx="1737360" cy="310896"/>
          </a:xfrm>
          <a:prstGeom prst="roundRect">
            <a:avLst>
              <a:gd name="adj" fmla="val 35294"/>
            </a:avLst>
          </a:prstGeom>
          <a:solidFill>
            <a:srgbClr val="EAF0FF"/>
          </a:solidFill>
          <a:ln w="12700">
            <a:solidFill>
              <a:srgbClr val="EAF0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17536" y="10058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35824" y="1481328"/>
            <a:ext cx="3401568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CatLingo already supports a coherent learning workflow: login, game selection, interactive practice, and progress review.</a:t>
            </a:r>
            <a:endParaRPr lang="en-US" sz="1480" dirty="0"/>
          </a:p>
          <a:p>
            <a:pPr marL="0" indent="0">
              <a:buNone/>
            </a:pPr>
            <a:endParaRPr lang="en-US" sz="1480" dirty="0"/>
          </a:p>
          <a:p>
            <a:pPr marL="0" indent="0">
              <a:buNone/>
            </a:pPr>
            <a:r>
              <a:rPr lang="en-US" sz="14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prototype is strongest in integrated structure, local persistence, and the technically grounded speaking workflow.</a:t>
            </a:r>
            <a:endParaRPr lang="en-US" sz="1480" dirty="0"/>
          </a:p>
          <a:p>
            <a:pPr marL="0" indent="0">
              <a:buNone/>
            </a:pPr>
            <a:endParaRPr lang="en-US" sz="1480" dirty="0"/>
          </a:p>
          <a:p>
            <a:pPr marL="0" indent="0">
              <a:buNone/>
            </a:pPr>
            <a:r>
              <a:rPr lang="en-US" sz="14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current project demonstrates feasibility and internal coherence more strongly than long-term pedagogical impact at scale.</a:t>
            </a:r>
            <a:endParaRPr lang="en-US" sz="1480" dirty="0"/>
          </a:p>
        </p:txBody>
      </p:sp>
      <p:pic>
        <p:nvPicPr>
          <p:cNvPr id="43" name="Image 1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44" name="Image 2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49" name="Shape 7">
            <a:extLst>
              <a:ext uri="{FF2B5EF4-FFF2-40B4-BE49-F238E27FC236}">
                <a16:creationId xmlns:a16="http://schemas.microsoft.com/office/drawing/2014/main" id="{6AD7434B-0B79-4281-8FD7-1DAC41484853}"/>
              </a:ext>
            </a:extLst>
          </p:cNvPr>
          <p:cNvSpPr/>
          <p:nvPr/>
        </p:nvSpPr>
        <p:spPr>
          <a:xfrm>
            <a:off x="5732050" y="2084832"/>
            <a:ext cx="983845" cy="256032"/>
          </a:xfrm>
          <a:prstGeom prst="roundRect">
            <a:avLst>
              <a:gd name="adj" fmla="val 14286"/>
            </a:avLst>
          </a:prstGeom>
          <a:solidFill>
            <a:srgbClr val="F1FAE8"/>
          </a:solidFill>
          <a:ln w="10160">
            <a:solidFill>
              <a:srgbClr val="A5D28A"/>
            </a:solidFill>
            <a:prstDash val="solid"/>
          </a:ln>
        </p:spPr>
      </p:sp>
      <p:sp>
        <p:nvSpPr>
          <p:cNvPr id="50" name="Text 8">
            <a:extLst>
              <a:ext uri="{FF2B5EF4-FFF2-40B4-BE49-F238E27FC236}">
                <a16:creationId xmlns:a16="http://schemas.microsoft.com/office/drawing/2014/main" id="{9C84D905-0EFB-4B3C-B312-DCAC4CBFB5AC}"/>
              </a:ext>
            </a:extLst>
          </p:cNvPr>
          <p:cNvSpPr/>
          <p:nvPr/>
        </p:nvSpPr>
        <p:spPr>
          <a:xfrm>
            <a:off x="5810394" y="2167128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51" name="Text 9">
            <a:extLst>
              <a:ext uri="{FF2B5EF4-FFF2-40B4-BE49-F238E27FC236}">
                <a16:creationId xmlns:a16="http://schemas.microsoft.com/office/drawing/2014/main" id="{88A33DD0-940F-4E7B-8CA7-5462A75D9FE4}"/>
              </a:ext>
            </a:extLst>
          </p:cNvPr>
          <p:cNvSpPr/>
          <p:nvPr/>
        </p:nvSpPr>
        <p:spPr>
          <a:xfrm>
            <a:off x="5977948" y="2148840"/>
            <a:ext cx="6161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</a:t>
            </a:r>
            <a:endParaRPr lang="en-US" sz="1080" dirty="0"/>
          </a:p>
        </p:txBody>
      </p:sp>
      <p:sp>
        <p:nvSpPr>
          <p:cNvPr id="55" name="Shape 7">
            <a:extLst>
              <a:ext uri="{FF2B5EF4-FFF2-40B4-BE49-F238E27FC236}">
                <a16:creationId xmlns:a16="http://schemas.microsoft.com/office/drawing/2014/main" id="{7A9A1F7B-C933-484C-B5A0-AB49E98D34A1}"/>
              </a:ext>
            </a:extLst>
          </p:cNvPr>
          <p:cNvSpPr/>
          <p:nvPr/>
        </p:nvSpPr>
        <p:spPr>
          <a:xfrm>
            <a:off x="5732050" y="2670048"/>
            <a:ext cx="983845" cy="256032"/>
          </a:xfrm>
          <a:prstGeom prst="roundRect">
            <a:avLst>
              <a:gd name="adj" fmla="val 14286"/>
            </a:avLst>
          </a:prstGeom>
          <a:solidFill>
            <a:srgbClr val="F1FAE8"/>
          </a:solidFill>
          <a:ln w="10160">
            <a:solidFill>
              <a:srgbClr val="A5D28A"/>
            </a:solidFill>
            <a:prstDash val="solid"/>
          </a:ln>
        </p:spPr>
      </p:sp>
      <p:sp>
        <p:nvSpPr>
          <p:cNvPr id="56" name="Text 8">
            <a:extLst>
              <a:ext uri="{FF2B5EF4-FFF2-40B4-BE49-F238E27FC236}">
                <a16:creationId xmlns:a16="http://schemas.microsoft.com/office/drawing/2014/main" id="{26EF5722-5FE4-4930-A980-7DCA5022C212}"/>
              </a:ext>
            </a:extLst>
          </p:cNvPr>
          <p:cNvSpPr/>
          <p:nvPr/>
        </p:nvSpPr>
        <p:spPr>
          <a:xfrm>
            <a:off x="5814100" y="273405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57" name="Text 9">
            <a:extLst>
              <a:ext uri="{FF2B5EF4-FFF2-40B4-BE49-F238E27FC236}">
                <a16:creationId xmlns:a16="http://schemas.microsoft.com/office/drawing/2014/main" id="{5F831E59-3E6F-4047-A21E-65585B700CE5}"/>
              </a:ext>
            </a:extLst>
          </p:cNvPr>
          <p:cNvSpPr/>
          <p:nvPr/>
        </p:nvSpPr>
        <p:spPr>
          <a:xfrm>
            <a:off x="5942116" y="2724912"/>
            <a:ext cx="6161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</a:t>
            </a:r>
            <a:endParaRPr lang="en-US" sz="1080" dirty="0"/>
          </a:p>
        </p:txBody>
      </p:sp>
      <p:sp>
        <p:nvSpPr>
          <p:cNvPr id="58" name="Shape 7">
            <a:extLst>
              <a:ext uri="{FF2B5EF4-FFF2-40B4-BE49-F238E27FC236}">
                <a16:creationId xmlns:a16="http://schemas.microsoft.com/office/drawing/2014/main" id="{40F1DA16-688E-48C2-AFAA-2211E0B50371}"/>
              </a:ext>
            </a:extLst>
          </p:cNvPr>
          <p:cNvSpPr/>
          <p:nvPr/>
        </p:nvSpPr>
        <p:spPr>
          <a:xfrm>
            <a:off x="5732051" y="3264408"/>
            <a:ext cx="983845" cy="256032"/>
          </a:xfrm>
          <a:prstGeom prst="roundRect">
            <a:avLst>
              <a:gd name="adj" fmla="val 14286"/>
            </a:avLst>
          </a:prstGeom>
          <a:solidFill>
            <a:srgbClr val="F1FAE8"/>
          </a:solidFill>
          <a:ln w="10160">
            <a:solidFill>
              <a:srgbClr val="A5D28A"/>
            </a:solidFill>
            <a:prstDash val="solid"/>
          </a:ln>
        </p:spPr>
      </p:sp>
      <p:sp>
        <p:nvSpPr>
          <p:cNvPr id="59" name="Text 8">
            <a:extLst>
              <a:ext uri="{FF2B5EF4-FFF2-40B4-BE49-F238E27FC236}">
                <a16:creationId xmlns:a16="http://schemas.microsoft.com/office/drawing/2014/main" id="{04E8894C-824C-4865-8834-C9B4D5B82148}"/>
              </a:ext>
            </a:extLst>
          </p:cNvPr>
          <p:cNvSpPr/>
          <p:nvPr/>
        </p:nvSpPr>
        <p:spPr>
          <a:xfrm>
            <a:off x="5814101" y="332841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60" name="Text 9">
            <a:extLst>
              <a:ext uri="{FF2B5EF4-FFF2-40B4-BE49-F238E27FC236}">
                <a16:creationId xmlns:a16="http://schemas.microsoft.com/office/drawing/2014/main" id="{10043DEC-A239-48E6-B9B9-CDC5F218C5B6}"/>
              </a:ext>
            </a:extLst>
          </p:cNvPr>
          <p:cNvSpPr/>
          <p:nvPr/>
        </p:nvSpPr>
        <p:spPr>
          <a:xfrm>
            <a:off x="5942117" y="3319272"/>
            <a:ext cx="6161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</a:t>
            </a:r>
            <a:endParaRPr lang="en-US" sz="1080" dirty="0"/>
          </a:p>
        </p:txBody>
      </p:sp>
      <p:sp>
        <p:nvSpPr>
          <p:cNvPr id="61" name="Shape 7">
            <a:extLst>
              <a:ext uri="{FF2B5EF4-FFF2-40B4-BE49-F238E27FC236}">
                <a16:creationId xmlns:a16="http://schemas.microsoft.com/office/drawing/2014/main" id="{9712ADE1-8B1C-4751-B139-7B6FD36DF9F2}"/>
              </a:ext>
            </a:extLst>
          </p:cNvPr>
          <p:cNvSpPr/>
          <p:nvPr/>
        </p:nvSpPr>
        <p:spPr>
          <a:xfrm>
            <a:off x="5732051" y="3904488"/>
            <a:ext cx="983845" cy="256032"/>
          </a:xfrm>
          <a:prstGeom prst="roundRect">
            <a:avLst>
              <a:gd name="adj" fmla="val 14286"/>
            </a:avLst>
          </a:prstGeom>
          <a:solidFill>
            <a:srgbClr val="F1FAE8"/>
          </a:solidFill>
          <a:ln w="10160">
            <a:solidFill>
              <a:srgbClr val="A5D28A"/>
            </a:solidFill>
            <a:prstDash val="solid"/>
          </a:ln>
        </p:spPr>
      </p:sp>
      <p:sp>
        <p:nvSpPr>
          <p:cNvPr id="62" name="Text 8">
            <a:extLst>
              <a:ext uri="{FF2B5EF4-FFF2-40B4-BE49-F238E27FC236}">
                <a16:creationId xmlns:a16="http://schemas.microsoft.com/office/drawing/2014/main" id="{DE115138-E8F9-4451-8D1E-67059277613D}"/>
              </a:ext>
            </a:extLst>
          </p:cNvPr>
          <p:cNvSpPr/>
          <p:nvPr/>
        </p:nvSpPr>
        <p:spPr>
          <a:xfrm>
            <a:off x="5814101" y="396849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63" name="Text 9">
            <a:extLst>
              <a:ext uri="{FF2B5EF4-FFF2-40B4-BE49-F238E27FC236}">
                <a16:creationId xmlns:a16="http://schemas.microsoft.com/office/drawing/2014/main" id="{EA2186D5-08CC-445F-8EA3-FE46B188B946}"/>
              </a:ext>
            </a:extLst>
          </p:cNvPr>
          <p:cNvSpPr/>
          <p:nvPr/>
        </p:nvSpPr>
        <p:spPr>
          <a:xfrm>
            <a:off x="5942117" y="3959352"/>
            <a:ext cx="6161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</a:t>
            </a:r>
            <a:endParaRPr lang="en-US" sz="1080" dirty="0"/>
          </a:p>
        </p:txBody>
      </p:sp>
      <p:pic>
        <p:nvPicPr>
          <p:cNvPr id="64" name="Picture 12" descr="8a7c0663-f7b2-4937-9eb5-b4aeb9d07c89_no_bg.png">
            <a:extLst>
              <a:ext uri="{FF2B5EF4-FFF2-40B4-BE49-F238E27FC236}">
                <a16:creationId xmlns:a16="http://schemas.microsoft.com/office/drawing/2014/main" id="{13B75718-B9F8-4EBA-9B57-CC8EC6531D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and Future Work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prototype establishes a solid foundation, but not the final endpoint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207008"/>
            <a:ext cx="5413248" cy="4526280"/>
          </a:xfrm>
          <a:prstGeom prst="roundRect">
            <a:avLst>
              <a:gd name="adj" fmla="val 1616"/>
            </a:avLst>
          </a:prstGeom>
          <a:solidFill>
            <a:srgbClr val="FFF1F1"/>
          </a:solidFill>
          <a:ln w="13970">
            <a:solidFill>
              <a:srgbClr val="F1C1C1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17336" y="1207008"/>
            <a:ext cx="5413248" cy="4526280"/>
          </a:xfrm>
          <a:prstGeom prst="roundRect">
            <a:avLst>
              <a:gd name="adj" fmla="val 1616"/>
            </a:avLst>
          </a:prstGeom>
          <a:solidFill>
            <a:srgbClr val="F2FAEE"/>
          </a:solidFill>
          <a:ln w="13970">
            <a:solidFill>
              <a:srgbClr val="CFE3B9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024128"/>
            <a:ext cx="1691640" cy="310896"/>
          </a:xfrm>
          <a:prstGeom prst="roundRect">
            <a:avLst>
              <a:gd name="adj" fmla="val 35294"/>
            </a:avLst>
          </a:prstGeom>
          <a:solidFill>
            <a:srgbClr val="FFE7E7"/>
          </a:solidFill>
          <a:ln w="12700">
            <a:solidFill>
              <a:srgbClr val="FFE7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958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024128"/>
            <a:ext cx="1783080" cy="310896"/>
          </a:xfrm>
          <a:prstGeom prst="roundRect">
            <a:avLst>
              <a:gd name="adj" fmla="val 35294"/>
            </a:avLst>
          </a:prstGeom>
          <a:solidFill>
            <a:srgbClr val="EAF7E0"/>
          </a:solidFill>
          <a:ln w="12700">
            <a:solidFill>
              <a:srgbClr val="EAF7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06070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B8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32688" y="1536192"/>
            <a:ext cx="4663440" cy="3611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8C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are stored locally only, which suits a student prototype but limits broader deployment.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8C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Pronunciation outcomes can vary with device conditions, background noise, and external service behaviour.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8C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Question quality still depends on dataset balance, preprocessing quality, and distractor design.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91656" y="1536192"/>
            <a:ext cx="4663440" cy="3703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3E6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Add cloud-backed accounts and cross-device synchronisation.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3E6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Expand achievement logic and richer progress analytics.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3E6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Improve Word Puzzle curation and difficulty modelling.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3E6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Provide more detailed pronunciation feedback and test under wider conditions.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721608" y="5367528"/>
            <a:ext cx="4761306" cy="46634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13632" y="5559552"/>
            <a:ext cx="4343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Positioning: a credible and integrated prototype for future expansion</a:t>
            </a:r>
            <a:endParaRPr lang="en-US" sz="1180" dirty="0"/>
          </a:p>
        </p:txBody>
      </p:sp>
      <p:pic>
        <p:nvPicPr>
          <p:cNvPr id="14" name="Image 0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15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1</a:t>
            </a:r>
            <a:r>
              <a:rPr lang="en-US" sz="11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17" name="Picture 12" descr="8a7c0663-f7b2-4937-9eb5-b4aeb9d07c89_no_bg.png">
            <a:extLst>
              <a:ext uri="{FF2B5EF4-FFF2-40B4-BE49-F238E27FC236}">
                <a16:creationId xmlns:a16="http://schemas.microsoft.com/office/drawing/2014/main" id="{D3636918-74F8-4B37-850F-E72536824C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488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11880" y="2066544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12464" y="2670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80" dirty="0">
                <a:solidFill>
                  <a:srgbClr val="D9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and discussion</a:t>
            </a:r>
            <a:endParaRPr lang="en-US" sz="1380" dirty="0"/>
          </a:p>
        </p:txBody>
      </p:sp>
      <p:pic>
        <p:nvPicPr>
          <p:cNvPr id="5" name="Image 0" descr="/mnt/data/work/qm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4901184"/>
            <a:ext cx="2953512" cy="9326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1827</Words>
  <Application>Microsoft Office PowerPoint</Application>
  <PresentationFormat>宽屏</PresentationFormat>
  <Paragraphs>211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等线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CatLingo: Android Chinese Words Game App</dc:title>
  <dc:subject>CatLingo undergraduate project defense</dc:subject>
  <dc:creator>OpenAI</dc:creator>
  <cp:lastModifiedBy>Weiliang Liu</cp:lastModifiedBy>
  <cp:revision>14</cp:revision>
  <dcterms:created xsi:type="dcterms:W3CDTF">2026-04-19T19:37:26Z</dcterms:created>
  <dcterms:modified xsi:type="dcterms:W3CDTF">2026-04-22T11:56:30Z</dcterms:modified>
</cp:coreProperties>
</file>