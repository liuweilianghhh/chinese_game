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38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168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template derived from uploaded file: Copyright PDFs Ally.pptx (title-slide style, gradient background, Queen Mary branding).
- Project title, author, programme, and report year cross-checked against thesis PDF title page and uploaded DOCX title page.
- Project naming follows the dissertation abstract and introduction in the uploaded PDF (CatLingo / Android Chinese Words Game App).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thesis PDF: abstract and keywords (pp. 4–5) for project purpose and scope.
- Uploaded thesis PDF: Introduction sections 1.1–1.4 (pp. 7–10) for background, problem statement, aim, objectives, and scope.
- Uploaded DOCX initial draft: Abstract and Chapter 1 for cross-checking motivation and project scope.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thesis PDF: abstract (pp. 4–5) and requirements chapter (pp. 16–20) for the three core mini-games and support features.
- Uploaded thesis PDF: design chapter (pp. 22–36) for activity-based workflow and feature grouping.
- GitHub repo: activity_game_choice.xml and GameActivity.java for the three game modes and entry flow.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thesis PDF: design and implementation chapter (pp. 22–25) for layered architecture and activity-based navigation.
- GitHub repo: GameActivity.java for single-activity mode dispatch and speech helper initialization.
- GitHub repo: README.md and Database_Documentation.md for stack components and runtime database description.
- Uploaded DOCX initial draft: Background / Technical context sections for platform migration context.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thesis PDF: design chapter sections 4.4.1–4.4.3 (pp. 25–29) for database rationale, DAO access, and JSON-to-SQLite import.
- GitHub repo: Database_Documentation.md for the current 11-table SQLite schema and module grouping.
- GitHub repo: GameActivity.java for how session records and per-question details are created and updated.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thesis PDF: sections 4.6–4.9 (pp. 30–35) for module design and implementation logic.
- GitHub repo: GameActivity.java for runtime constants, mode dispatch, answer feedback, Word Puzzle branching, and speech evaluation callbacks.
- GitHub repo: PRONUNCIATION_QUIZ_INTEGRATION.md for pronunciation flow and scoring design.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All four visual assets on this slide are cropped from dissertation result pages in the uploaded PDF: user management (p. 37), Character Matching (p. 38), Pronunciation Quiz (p. 39), and Word Puzzle (p. 40).
- The screenshots correspond to the thesis discussion in Chapter 5 and are used here as implementation evidence.
- Template styling continues the uploaded PowerPoint theme (footer gradient and Queen Mary branding).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thesis PDF: Results and Discussion chapter (pp. 37–43) for system effectiveness and objective comparison.
- Uploaded thesis PDF: Conclusion section 6.2 and 6.3 (pp. 44–45) for achievement of objectives and remaining limitations.
- Profile screenshot is cropped from uploaded PDF p. 41 as evidence of progress tracking.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thesis PDF: Discussion of limitations (p. 42) and conclusion/future work (pp. 44–45).
- Uploaded DOCX initial draft: Risk and Environmental Impact Assessment appendix for privacy, fairness, and deployment-related constraints.
- Limitations reflect both the dissertation discussion and the current GitHub project state.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style based on the uploaded PowerPoint template closing slide and Queen Mary branding from Copyright PDFs Ally.pptx.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ork/template_media/image2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52" y="384048"/>
            <a:ext cx="2663952" cy="8412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17320" y="2359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CatLingo</a:t>
            </a:r>
            <a:endParaRPr lang="en-US" sz="3100" dirty="0"/>
          </a:p>
        </p:txBody>
      </p:sp>
      <p:sp>
        <p:nvSpPr>
          <p:cNvPr id="5" name="Text 1"/>
          <p:cNvSpPr/>
          <p:nvPr/>
        </p:nvSpPr>
        <p:spPr>
          <a:xfrm>
            <a:off x="1417320" y="290779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Chinese Words Game App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417320" y="34198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D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 Project Defence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444752" y="4041648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Weiliang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Telecommunications Engineering with Management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BUPT / QMUL · 2025/26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411480" y="6419088"/>
            <a:ext cx="11594592" cy="0"/>
          </a:xfrm>
          <a:prstGeom prst="line">
            <a:avLst/>
          </a:prstGeom>
          <a:noFill/>
          <a:ln w="15240">
            <a:solidFill>
              <a:srgbClr val="F2F7F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34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Background, Problem, and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05840" y="69494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 matters and what it set out to achieve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133856"/>
            <a:ext cx="5440680" cy="4617720"/>
          </a:xfrm>
          <a:prstGeom prst="roundRect">
            <a:avLst>
              <a:gd name="adj" fmla="val 1584"/>
            </a:avLst>
          </a:prstGeom>
          <a:solidFill>
            <a:srgbClr val="EEF5FB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89904" y="1133856"/>
            <a:ext cx="544068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950976"/>
            <a:ext cx="1463040" cy="310896"/>
          </a:xfrm>
          <a:prstGeom prst="roundRect">
            <a:avLst>
              <a:gd name="adj" fmla="val 35294"/>
            </a:avLst>
          </a:prstGeom>
          <a:solidFill>
            <a:srgbClr val="DFF5F8"/>
          </a:solidFill>
          <a:ln w="12700">
            <a:solidFill>
              <a:srgbClr val="DFF5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987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7648" y="950976"/>
            <a:ext cx="1627632" cy="310896"/>
          </a:xfrm>
          <a:prstGeom prst="roundRect">
            <a:avLst>
              <a:gd name="adj" fmla="val 35294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7648" y="9875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1481328"/>
            <a:ext cx="489204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Many Chinese learning tools still isolate pinyin, vocabulary, or simple drills instead of integrating recognition, pronunciation, and sentence practice.</a:t>
            </a:r>
            <a:endParaRPr lang="en-US" sz="1720" dirty="0"/>
          </a:p>
          <a:p>
            <a:pPr marL="0" indent="0">
              <a:buNone/>
            </a:pP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Chinese learners must recognise characters, distinguish tones, connect pinyin with written words, and understand sentence order.</a:t>
            </a:r>
            <a:endParaRPr lang="en-US" sz="1720" dirty="0"/>
          </a:p>
          <a:p>
            <a:pPr marL="0" indent="0">
              <a:buNone/>
            </a:pPr>
            <a:endParaRPr lang="en-US" sz="1720" dirty="0"/>
          </a:p>
          <a:p>
            <a:pPr marL="0" indent="0">
              <a:buNone/>
            </a:pPr>
            <a:r>
              <a:rPr lang="en-US" sz="172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Repetition without progression, feedback, and visible progress makes it difficult to sustain motivation.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914400" y="4754880"/>
            <a:ext cx="489204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2000"/>
            </a:srgbClr>
          </a:solidFill>
          <a:ln w="17780">
            <a:solidFill>
              <a:srgbClr val="38B7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946904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users: beginner and intermediate Chinese learners on Android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64224" y="1481328"/>
            <a:ext cx="484632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Build a native Android app with a modular and maintainable structure.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Implement three mini-games: Character Matching, Pronunciation Quiz, and Word Puzzle.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Support user accounts, difficulty selection, local persistence, achievements, and progress tracking.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Provide an engaging learning workflow while remaining educationally meaningful.</a:t>
            </a:r>
            <a:endParaRPr lang="en-US" sz="1700" dirty="0"/>
          </a:p>
        </p:txBody>
      </p:sp>
      <p:pic>
        <p:nvPicPr>
          <p:cNvPr id="14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15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688775" y="63093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34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05840" y="69494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gamified mobile workflow that connects multiple learning tasks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593592" cy="2057400"/>
          </a:xfrm>
          <a:prstGeom prst="roundRect">
            <a:avLst>
              <a:gd name="adj" fmla="val 3556"/>
            </a:avLst>
          </a:prstGeom>
          <a:solidFill>
            <a:srgbClr val="EEF5FB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9903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Matching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77824" y="1801368"/>
            <a:ext cx="315468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Pinyin → Chinese word association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Random word selection by difficulty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POS-tag distractors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Immediate answer feedback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4544568" y="1234440"/>
            <a:ext cx="3593592" cy="2057400"/>
          </a:xfrm>
          <a:prstGeom prst="roundRect">
            <a:avLst>
              <a:gd name="adj" fmla="val 3556"/>
            </a:avLst>
          </a:prstGeom>
          <a:solidFill>
            <a:srgbClr val="F8FDF2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39903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Pronunciation Quiz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64024" y="1801368"/>
            <a:ext cx="315468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output with evaluation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Hold-to-record interaction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word + pinyin support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 feedback for each attempt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8430768" y="1234440"/>
            <a:ext cx="3593592" cy="2057400"/>
          </a:xfrm>
          <a:prstGeom prst="roundRect">
            <a:avLst>
              <a:gd name="adj" fmla="val 3556"/>
            </a:avLst>
          </a:prstGeom>
          <a:solidFill>
            <a:srgbClr val="FFF8EE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0" y="139903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Puzzle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50224" y="1801368"/>
            <a:ext cx="315468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Sentence-level reconstruction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Reorder or blank mode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Token-based sentence processing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 stored per session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4160520" y="3502152"/>
            <a:ext cx="3886200" cy="347472"/>
          </a:xfrm>
          <a:prstGeom prst="roundRect">
            <a:avLst>
              <a:gd name="adj" fmla="val 31579"/>
            </a:avLst>
          </a:prstGeom>
          <a:solidFill>
            <a:srgbClr val="EAF7FA"/>
          </a:solidFill>
          <a:ln w="12700">
            <a:solidFill>
              <a:srgbClr val="EA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35387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support features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" y="3977640"/>
            <a:ext cx="190195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38B7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413308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200400" y="3977640"/>
            <a:ext cx="190195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A7C0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413308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selection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440680" y="3977640"/>
            <a:ext cx="190195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38B7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13832" y="413308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scores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680960" y="3977640"/>
            <a:ext cx="190195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A7C0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54112" y="413308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Achievements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9921240" y="3977640"/>
            <a:ext cx="1901952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38B7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94392" y="413308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&amp; progress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77824" y="4901184"/>
            <a:ext cx="2029968" cy="566928"/>
          </a:xfrm>
          <a:prstGeom prst="chevron">
            <a:avLst/>
          </a:prstGeom>
          <a:solidFill>
            <a:srgbClr val="E7F1FB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499262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 Register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2944368" y="4901184"/>
            <a:ext cx="2029968" cy="566928"/>
          </a:xfrm>
          <a:prstGeom prst="chevron">
            <a:avLst/>
          </a:prstGeom>
          <a:solidFill>
            <a:srgbClr val="E7F1FB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499262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Game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5010912" y="4901184"/>
            <a:ext cx="2139696" cy="566928"/>
          </a:xfrm>
          <a:prstGeom prst="chevron">
            <a:avLst/>
          </a:prstGeom>
          <a:solidFill>
            <a:srgbClr val="E7F1FB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4064" y="49926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by Difficulty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7242048" y="4901184"/>
            <a:ext cx="1993392" cy="566928"/>
          </a:xfrm>
          <a:prstGeom prst="chevron">
            <a:avLst/>
          </a:prstGeom>
          <a:solidFill>
            <a:srgbClr val="E7F1FB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49926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Results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9326880" y="4901184"/>
            <a:ext cx="1920240" cy="566928"/>
          </a:xfrm>
          <a:prstGeom prst="chevron">
            <a:avLst/>
          </a:prstGeom>
          <a:solidFill>
            <a:srgbClr val="E7F1FB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00032" y="4992624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Progress</a:t>
            </a:r>
            <a:endParaRPr lang="en-US" sz="1220" dirty="0"/>
          </a:p>
        </p:txBody>
      </p:sp>
      <p:pic>
        <p:nvPicPr>
          <p:cNvPr id="35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36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1688775" y="63093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34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Technology Stack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05840" y="69494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Unity concept to a native Android implementation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5669280" cy="4754880"/>
          </a:xfrm>
          <a:prstGeom prst="roundRect">
            <a:avLst>
              <a:gd name="adj" fmla="val 1538"/>
            </a:avLst>
          </a:prstGeom>
          <a:solidFill>
            <a:srgbClr val="F9FBFE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941832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DFF5F8"/>
          </a:solidFill>
          <a:ln w="12700">
            <a:solidFill>
              <a:srgbClr val="DF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9784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" y="1444752"/>
            <a:ext cx="4937760" cy="694944"/>
          </a:xfrm>
          <a:prstGeom prst="roundRect">
            <a:avLst>
              <a:gd name="adj" fmla="val 10526"/>
            </a:avLst>
          </a:prstGeom>
          <a:solidFill>
            <a:srgbClr val="DFF1FB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5544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2523744" y="15361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 + XML layouts</a:t>
            </a:r>
            <a:endParaRPr lang="en-US" sz="1170" dirty="0"/>
          </a:p>
          <a:p>
            <a:pPr marL="0" indent="0" algn="l">
              <a:buNone/>
            </a:pPr>
            <a:r>
              <a:rPr lang="en-US" sz="117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game hub, profile, achievements, shared game UI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2953512" y="2176272"/>
            <a:ext cx="1078992" cy="146304"/>
          </a:xfrm>
          <a:prstGeom prst="chevron">
            <a:avLst/>
          </a:prstGeom>
          <a:solidFill>
            <a:srgbClr val="BFD9E8"/>
          </a:solidFill>
          <a:ln w="12700">
            <a:solidFill>
              <a:srgbClr val="BF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432304"/>
            <a:ext cx="4937760" cy="694944"/>
          </a:xfrm>
          <a:prstGeom prst="roundRect">
            <a:avLst>
              <a:gd name="adj" fmla="val 10526"/>
            </a:avLst>
          </a:prstGeom>
          <a:solidFill>
            <a:srgbClr val="EAF0FF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542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layer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2523744" y="25237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MainActivity, game_choice, GameActivity</a:t>
            </a:r>
            <a:endParaRPr lang="en-US" sz="1170" dirty="0"/>
          </a:p>
          <a:p>
            <a:pPr marL="0" indent="0" algn="l">
              <a:buNone/>
            </a:pPr>
            <a:r>
              <a:rPr lang="en-US" sz="117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Navigation, session flow, game dispatch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2953512" y="3163824"/>
            <a:ext cx="1078992" cy="146304"/>
          </a:xfrm>
          <a:prstGeom prst="chevron">
            <a:avLst/>
          </a:prstGeom>
          <a:solidFill>
            <a:srgbClr val="BFD9E8"/>
          </a:solidFill>
          <a:ln w="12700">
            <a:solidFill>
              <a:srgbClr val="BFD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419856"/>
            <a:ext cx="4937760" cy="694944"/>
          </a:xfrm>
          <a:prstGeom prst="roundRect">
            <a:avLst>
              <a:gd name="adj" fmla="val 10526"/>
            </a:avLst>
          </a:prstGeom>
          <a:solidFill>
            <a:srgbClr val="F4F8FC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35295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2523744" y="35112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DAO + DataManager</a:t>
            </a:r>
            <a:endParaRPr lang="en-US" sz="1170" dirty="0"/>
          </a:p>
          <a:p>
            <a:pPr marL="0" indent="0" algn="l">
              <a:buNone/>
            </a:pPr>
            <a:r>
              <a:rPr lang="en-US" sz="117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scores, question details, sentences, word resources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2953512" y="4151376"/>
            <a:ext cx="1078992" cy="146304"/>
          </a:xfrm>
          <a:prstGeom prst="chevron">
            <a:avLst/>
          </a:prstGeom>
          <a:solidFill>
            <a:srgbClr val="BFD9E8"/>
          </a:solidFill>
          <a:ln w="12700">
            <a:solidFill>
              <a:srgbClr val="BFD9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407408"/>
            <a:ext cx="4937760" cy="694944"/>
          </a:xfrm>
          <a:prstGeom prst="roundRect">
            <a:avLst>
              <a:gd name="adj" fmla="val 10526"/>
            </a:avLst>
          </a:prstGeom>
          <a:solidFill>
            <a:srgbClr val="EEF9F2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45171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services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2523744" y="44988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evaluation / recognition components</a:t>
            </a:r>
            <a:endParaRPr lang="en-US" sz="1170" dirty="0"/>
          </a:p>
          <a:p>
            <a:pPr marL="0" indent="0" algn="l">
              <a:buNone/>
            </a:pPr>
            <a:r>
              <a:rPr lang="en-US" sz="117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HanLP-assisted sentence processing</a:t>
            </a:r>
            <a:endParaRPr lang="en-US" sz="1170" dirty="0"/>
          </a:p>
        </p:txBody>
      </p:sp>
      <p:sp>
        <p:nvSpPr>
          <p:cNvPr id="22" name="Shape 20"/>
          <p:cNvSpPr/>
          <p:nvPr/>
        </p:nvSpPr>
        <p:spPr>
          <a:xfrm>
            <a:off x="6455664" y="1115568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93408" y="941832"/>
            <a:ext cx="1627632" cy="310896"/>
          </a:xfrm>
          <a:prstGeom prst="roundRect">
            <a:avLst>
              <a:gd name="adj" fmla="val 35294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9784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9984" y="1444752"/>
            <a:ext cx="1133856" cy="365760"/>
          </a:xfrm>
          <a:prstGeom prst="roundRect">
            <a:avLst>
              <a:gd name="adj" fmla="val 12500"/>
            </a:avLst>
          </a:prstGeom>
          <a:solidFill>
            <a:srgbClr val="DFF5F8"/>
          </a:solidFill>
          <a:ln w="10160">
            <a:solidFill>
              <a:srgbClr val="D2DF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154533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8028432" y="14904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 (Java + XML)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6729984" y="2112264"/>
            <a:ext cx="1133856" cy="365760"/>
          </a:xfrm>
          <a:prstGeom prst="roundRect">
            <a:avLst>
              <a:gd name="adj" fmla="val 12500"/>
            </a:avLst>
          </a:prstGeom>
          <a:solidFill>
            <a:srgbClr val="F5F8FF"/>
          </a:solidFill>
          <a:ln w="10160">
            <a:solidFill>
              <a:srgbClr val="D2DF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221284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8028432" y="21579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SQLite, DAO pattern, JSON-to-SQLite loading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6729984" y="2779776"/>
            <a:ext cx="1133856" cy="365760"/>
          </a:xfrm>
          <a:prstGeom prst="roundRect">
            <a:avLst>
              <a:gd name="adj" fmla="val 12500"/>
            </a:avLst>
          </a:prstGeom>
          <a:solidFill>
            <a:srgbClr val="DFF5F8"/>
          </a:solidFill>
          <a:ln w="10160">
            <a:solidFill>
              <a:srgbClr val="D2DF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9712" y="288036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control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8028432" y="28254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GameActivity dispatching three modes</a:t>
            </a:r>
            <a:endParaRPr lang="en-US" sz="1280" dirty="0"/>
          </a:p>
        </p:txBody>
      </p:sp>
      <p:sp>
        <p:nvSpPr>
          <p:cNvPr id="34" name="Shape 32"/>
          <p:cNvSpPr/>
          <p:nvPr/>
        </p:nvSpPr>
        <p:spPr>
          <a:xfrm>
            <a:off x="6729984" y="3447288"/>
            <a:ext cx="1133856" cy="365760"/>
          </a:xfrm>
          <a:prstGeom prst="roundRect">
            <a:avLst>
              <a:gd name="adj" fmla="val 12500"/>
            </a:avLst>
          </a:prstGeom>
          <a:solidFill>
            <a:srgbClr val="F5F8FF"/>
          </a:solidFill>
          <a:ln w="10160">
            <a:solidFill>
              <a:srgbClr val="D2DF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9712" y="35478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data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8028432" y="34930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HanLP / pinyin processing and sentence tokens</a:t>
            </a:r>
            <a:endParaRPr lang="en-US" sz="1280" dirty="0"/>
          </a:p>
        </p:txBody>
      </p:sp>
      <p:sp>
        <p:nvSpPr>
          <p:cNvPr id="37" name="Shape 35"/>
          <p:cNvSpPr/>
          <p:nvPr/>
        </p:nvSpPr>
        <p:spPr>
          <a:xfrm>
            <a:off x="6729984" y="4133088"/>
            <a:ext cx="1133856" cy="365760"/>
          </a:xfrm>
          <a:prstGeom prst="roundRect">
            <a:avLst>
              <a:gd name="adj" fmla="val 12500"/>
            </a:avLst>
          </a:prstGeom>
          <a:solidFill>
            <a:srgbClr val="DFF5F8"/>
          </a:solidFill>
          <a:ln w="10160">
            <a:solidFill>
              <a:srgbClr val="D2DF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9712" y="42153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module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8028432" y="41605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IseEvaluator + SpeechRecognitionHelper integration</a:t>
            </a:r>
            <a:endParaRPr lang="en-US" sz="1280" dirty="0"/>
          </a:p>
        </p:txBody>
      </p:sp>
      <p:sp>
        <p:nvSpPr>
          <p:cNvPr id="40" name="Shape 38"/>
          <p:cNvSpPr/>
          <p:nvPr/>
        </p:nvSpPr>
        <p:spPr>
          <a:xfrm>
            <a:off x="6729984" y="4782312"/>
            <a:ext cx="1133856" cy="365760"/>
          </a:xfrm>
          <a:prstGeom prst="roundRect">
            <a:avLst>
              <a:gd name="adj" fmla="val 12500"/>
            </a:avLst>
          </a:prstGeom>
          <a:solidFill>
            <a:srgbClr val="F5F8FF"/>
          </a:solidFill>
          <a:ln w="10160">
            <a:solidFill>
              <a:srgbClr val="D2DF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9712" y="488289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evolution</a:t>
            </a:r>
            <a:endParaRPr lang="en-US" sz="1130" dirty="0"/>
          </a:p>
        </p:txBody>
      </p:sp>
      <p:sp>
        <p:nvSpPr>
          <p:cNvPr id="42" name="Text 40"/>
          <p:cNvSpPr/>
          <p:nvPr/>
        </p:nvSpPr>
        <p:spPr>
          <a:xfrm>
            <a:off x="8028432" y="4828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Unity idea migrated to native Android for maintainability</a:t>
            </a:r>
            <a:endParaRPr lang="en-US" sz="1280" dirty="0"/>
          </a:p>
        </p:txBody>
      </p:sp>
      <p:pic>
        <p:nvPicPr>
          <p:cNvPr id="43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44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11688775" y="63093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34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and Persistence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05840" y="69494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 turns separate mini-games into one continuous learning system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152144"/>
            <a:ext cx="2267712" cy="4434840"/>
          </a:xfrm>
          <a:prstGeom prst="roundRect">
            <a:avLst>
              <a:gd name="adj" fmla="val 3226"/>
            </a:avLst>
          </a:prstGeom>
          <a:solidFill>
            <a:srgbClr val="F6FB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44475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34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in the current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9264" y="2770632"/>
            <a:ext cx="1664208" cy="0"/>
          </a:xfrm>
          <a:prstGeom prst="line">
            <a:avLst/>
          </a:prstGeom>
          <a:noFill/>
          <a:ln w="12700">
            <a:solidFill>
              <a:srgbClr val="C7D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077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grouped modules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868680" y="3310128"/>
            <a:ext cx="1847088" cy="310896"/>
          </a:xfrm>
          <a:prstGeom prst="roundRect">
            <a:avLst>
              <a:gd name="adj" fmla="val 11765"/>
            </a:avLst>
          </a:prstGeom>
          <a:solidFill>
            <a:srgbClr val="DFF5F8"/>
          </a:solidFill>
          <a:ln w="10160">
            <a:solidFill>
              <a:srgbClr val="D4E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3401568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&amp; achievements</a:t>
            </a:r>
            <a:endParaRPr lang="en-US" sz="1110" dirty="0"/>
          </a:p>
        </p:txBody>
      </p:sp>
      <p:sp>
        <p:nvSpPr>
          <p:cNvPr id="11" name="Shape 9"/>
          <p:cNvSpPr/>
          <p:nvPr/>
        </p:nvSpPr>
        <p:spPr>
          <a:xfrm>
            <a:off x="868680" y="3794760"/>
            <a:ext cx="1847088" cy="310896"/>
          </a:xfrm>
          <a:prstGeom prst="roundRect">
            <a:avLst>
              <a:gd name="adj" fmla="val 11765"/>
            </a:avLst>
          </a:prstGeom>
          <a:solidFill>
            <a:srgbClr val="ECF3FF"/>
          </a:solidFill>
          <a:ln w="10160">
            <a:solidFill>
              <a:srgbClr val="D4E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886200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records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868680" y="4279392"/>
            <a:ext cx="1847088" cy="310896"/>
          </a:xfrm>
          <a:prstGeom prst="roundRect">
            <a:avLst>
              <a:gd name="adj" fmla="val 11765"/>
            </a:avLst>
          </a:prstGeom>
          <a:solidFill>
            <a:srgbClr val="DFF5F8"/>
          </a:solidFill>
          <a:ln w="10160">
            <a:solidFill>
              <a:srgbClr val="D4E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4370832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resources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868680" y="4764024"/>
            <a:ext cx="1847088" cy="310896"/>
          </a:xfrm>
          <a:prstGeom prst="roundRect">
            <a:avLst>
              <a:gd name="adj" fmla="val 11765"/>
            </a:avLst>
          </a:prstGeom>
          <a:solidFill>
            <a:srgbClr val="ECF3FF"/>
          </a:solidFill>
          <a:ln w="10160">
            <a:solidFill>
              <a:srgbClr val="D4E0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855464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question banks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3127248" y="1152144"/>
            <a:ext cx="8403336" cy="307238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46704" y="969264"/>
            <a:ext cx="2212848" cy="310896"/>
          </a:xfrm>
          <a:prstGeom prst="roundRect">
            <a:avLst>
              <a:gd name="adj" fmla="val 35294"/>
            </a:avLst>
          </a:prstGeom>
          <a:solidFill>
            <a:srgbClr val="DFF5F8"/>
          </a:solidFill>
          <a:ln w="12700">
            <a:solidFill>
              <a:srgbClr val="DFF5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10058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table groups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83280" y="1517904"/>
            <a:ext cx="2395728" cy="987552"/>
          </a:xfrm>
          <a:prstGeom prst="roundRect">
            <a:avLst>
              <a:gd name="adj" fmla="val 5556"/>
            </a:avLst>
          </a:prstGeom>
          <a:solidFill>
            <a:srgbClr val="EAF7FA"/>
          </a:solidFill>
          <a:ln w="11430">
            <a:solidFill>
              <a:srgbClr val="C9DB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11296" y="1618488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module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3529584" y="1993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  •   achievements   •   user_achievements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961888" y="1517904"/>
            <a:ext cx="2395728" cy="987552"/>
          </a:xfrm>
          <a:prstGeom prst="roundRect">
            <a:avLst>
              <a:gd name="adj" fmla="val 5556"/>
            </a:avLst>
          </a:prstGeom>
          <a:solidFill>
            <a:srgbClr val="EEF3FF"/>
          </a:solidFill>
          <a:ln w="11430">
            <a:solidFill>
              <a:srgbClr val="C9DB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9904" y="1618488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records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6108192" y="1993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game_scores   •   game_question_details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8540496" y="1517904"/>
            <a:ext cx="1801368" cy="987552"/>
          </a:xfrm>
          <a:prstGeom prst="roundRect">
            <a:avLst>
              <a:gd name="adj" fmla="val 5556"/>
            </a:avLst>
          </a:prstGeom>
          <a:solidFill>
            <a:srgbClr val="F3FAEF"/>
          </a:solidFill>
          <a:ln w="11430">
            <a:solidFill>
              <a:srgbClr val="C9DB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68512" y="161848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8686800" y="199339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sentences   •   sentence_words   •   game_words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3383280" y="2670048"/>
            <a:ext cx="6958584" cy="1024128"/>
          </a:xfrm>
          <a:prstGeom prst="roundRect">
            <a:avLst>
              <a:gd name="adj" fmla="val 5357"/>
            </a:avLst>
          </a:prstGeom>
          <a:solidFill>
            <a:srgbClr val="FFF8EE"/>
          </a:solidFill>
          <a:ln w="11430">
            <a:solidFill>
              <a:srgbClr val="C9DB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11296" y="2770632"/>
            <a:ext cx="6702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banks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3529584" y="3145536"/>
            <a:ext cx="6665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character_matching   •   pronunciation_quiz   •   word_puzzle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3127248" y="4407408"/>
            <a:ext cx="8403336" cy="1179576"/>
          </a:xfrm>
          <a:prstGeom prst="roundRect">
            <a:avLst>
              <a:gd name="adj" fmla="val 6202"/>
            </a:avLst>
          </a:prstGeom>
          <a:solidFill>
            <a:srgbClr val="F9FBFE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46704" y="4242816"/>
            <a:ext cx="2542032" cy="310896"/>
          </a:xfrm>
          <a:prstGeom prst="roundRect">
            <a:avLst>
              <a:gd name="adj" fmla="val 35294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46704" y="42793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→ SQLite pipeline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3456432" y="4754880"/>
            <a:ext cx="1572768" cy="475488"/>
          </a:xfrm>
          <a:prstGeom prst="chevron">
            <a:avLst/>
          </a:prstGeom>
          <a:solidFill>
            <a:srgbClr val="E7F1FB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9584" y="484632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assets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5148072" y="4754880"/>
            <a:ext cx="1783080" cy="475488"/>
          </a:xfrm>
          <a:prstGeom prst="chevron">
            <a:avLst/>
          </a:prstGeom>
          <a:solidFill>
            <a:srgbClr val="E7F1FB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21224" y="484632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DataManager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7068312" y="4754880"/>
            <a:ext cx="1691640" cy="475488"/>
          </a:xfrm>
          <a:prstGeom prst="chevron">
            <a:avLst/>
          </a:prstGeom>
          <a:solidFill>
            <a:srgbClr val="E7F1FB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41464" y="484632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loader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8906256" y="4754880"/>
            <a:ext cx="1572768" cy="475488"/>
          </a:xfrm>
          <a:prstGeom prst="chevron">
            <a:avLst/>
          </a:prstGeom>
          <a:solidFill>
            <a:srgbClr val="E7F1FB"/>
          </a:solidFill>
          <a:ln w="12700">
            <a:solidFill>
              <a:srgbClr val="BFD1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79408" y="484632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10607040" y="4754880"/>
            <a:ext cx="694944" cy="475488"/>
          </a:xfrm>
          <a:prstGeom prst="roundRect">
            <a:avLst>
              <a:gd name="adj" fmla="val 7692"/>
            </a:avLst>
          </a:prstGeom>
          <a:solidFill>
            <a:srgbClr val="DFF5F8"/>
          </a:solidFill>
          <a:ln w="10160">
            <a:solidFill>
              <a:srgbClr val="BBD7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80192" y="490118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</a:t>
            </a:r>
            <a:endParaRPr lang="en-US" sz="1220" dirty="0"/>
          </a:p>
        </p:txBody>
      </p:sp>
      <p:pic>
        <p:nvPicPr>
          <p:cNvPr id="45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46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11688775" y="63093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34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Gameplay Implementation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05840" y="69494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three modules are built and evaluated at runtime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25296"/>
            <a:ext cx="3154680" cy="3273552"/>
          </a:xfrm>
          <a:prstGeom prst="roundRect">
            <a:avLst>
              <a:gd name="adj" fmla="val 2319"/>
            </a:avLst>
          </a:prstGeom>
          <a:solidFill>
            <a:srgbClr val="EEF5FB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4475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Character Matching</a:t>
            </a:r>
            <a:endParaRPr lang="en-US" sz="1720" dirty="0"/>
          </a:p>
        </p:txBody>
      </p:sp>
      <p:sp>
        <p:nvSpPr>
          <p:cNvPr id="6" name="Shape 4"/>
          <p:cNvSpPr/>
          <p:nvPr/>
        </p:nvSpPr>
        <p:spPr>
          <a:xfrm>
            <a:off x="877824" y="1920240"/>
            <a:ext cx="146304" cy="146304"/>
          </a:xfrm>
          <a:prstGeom prst="ellipse">
            <a:avLst/>
          </a:prstGeom>
          <a:solidFill>
            <a:srgbClr val="38B7C9"/>
          </a:solidFill>
          <a:ln w="12700">
            <a:solidFill>
              <a:srgbClr val="38B7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653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questions per session</a:t>
            </a:r>
            <a:endParaRPr lang="en-US" sz="1340" dirty="0"/>
          </a:p>
        </p:txBody>
      </p:sp>
      <p:sp>
        <p:nvSpPr>
          <p:cNvPr id="8" name="Shape 6"/>
          <p:cNvSpPr/>
          <p:nvPr/>
        </p:nvSpPr>
        <p:spPr>
          <a:xfrm>
            <a:off x="877824" y="2450592"/>
            <a:ext cx="146304" cy="146304"/>
          </a:xfrm>
          <a:prstGeom prst="ellipse">
            <a:avLst/>
          </a:prstGeom>
          <a:solidFill>
            <a:srgbClr val="23488B"/>
          </a:solidFill>
          <a:ln w="12700">
            <a:solidFill>
              <a:srgbClr val="2348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957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words by difficulty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877824" y="2980944"/>
            <a:ext cx="146304" cy="146304"/>
          </a:xfrm>
          <a:prstGeom prst="ellipse">
            <a:avLst/>
          </a:prstGeom>
          <a:solidFill>
            <a:srgbClr val="38B7C9"/>
          </a:solidFill>
          <a:ln w="12700">
            <a:solidFill>
              <a:srgbClr val="38B7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POS-tag distractors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877824" y="3511296"/>
            <a:ext cx="146304" cy="146304"/>
          </a:xfrm>
          <a:prstGeom prst="ellipse">
            <a:avLst/>
          </a:prstGeom>
          <a:solidFill>
            <a:srgbClr val="23488B"/>
          </a:solidFill>
          <a:ln w="12700">
            <a:solidFill>
              <a:srgbClr val="2348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456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correctness feedback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4142232" y="1225296"/>
            <a:ext cx="3154680" cy="3273552"/>
          </a:xfrm>
          <a:prstGeom prst="roundRect">
            <a:avLst>
              <a:gd name="adj" fmla="val 2319"/>
            </a:avLst>
          </a:prstGeom>
          <a:solidFill>
            <a:srgbClr val="F3FAE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06824" y="144475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Pronunciation Quiz</a:t>
            </a:r>
            <a:endParaRPr lang="en-US" sz="1720" dirty="0"/>
          </a:p>
        </p:txBody>
      </p:sp>
      <p:sp>
        <p:nvSpPr>
          <p:cNvPr id="16" name="Shape 14"/>
          <p:cNvSpPr/>
          <p:nvPr/>
        </p:nvSpPr>
        <p:spPr>
          <a:xfrm>
            <a:off x="4361688" y="1920240"/>
            <a:ext cx="146304" cy="146304"/>
          </a:xfrm>
          <a:prstGeom prst="ellipse">
            <a:avLst/>
          </a:prstGeom>
          <a:solidFill>
            <a:srgbClr val="38B7C9"/>
          </a:solidFill>
          <a:ln w="12700">
            <a:solidFill>
              <a:srgbClr val="38B7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18653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word + pinyin display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4361688" y="2450592"/>
            <a:ext cx="146304" cy="146304"/>
          </a:xfrm>
          <a:prstGeom prst="ellipse">
            <a:avLst/>
          </a:prstGeom>
          <a:solidFill>
            <a:srgbClr val="23488B"/>
          </a:solidFill>
          <a:ln w="12700">
            <a:solidFill>
              <a:srgbClr val="2348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23957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Hold-to-record interaction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4361688" y="2980944"/>
            <a:ext cx="146304" cy="146304"/>
          </a:xfrm>
          <a:prstGeom prst="ellipse">
            <a:avLst/>
          </a:prstGeom>
          <a:solidFill>
            <a:srgbClr val="38B7C9"/>
          </a:solidFill>
          <a:ln w="12700">
            <a:solidFill>
              <a:srgbClr val="38B7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1144" y="29260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callback and score mapping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4361688" y="3511296"/>
            <a:ext cx="146304" cy="146304"/>
          </a:xfrm>
          <a:prstGeom prst="ellipse">
            <a:avLst/>
          </a:prstGeom>
          <a:solidFill>
            <a:srgbClr val="23488B"/>
          </a:solidFill>
          <a:ln w="12700">
            <a:solidFill>
              <a:srgbClr val="2348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3456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per-question pronunciation result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7626096" y="1225296"/>
            <a:ext cx="3154680" cy="3273552"/>
          </a:xfrm>
          <a:prstGeom prst="roundRect">
            <a:avLst>
              <a:gd name="adj" fmla="val 2319"/>
            </a:avLst>
          </a:prstGeom>
          <a:solidFill>
            <a:srgbClr val="FFF8EE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90688" y="1444752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Word Puzzle</a:t>
            </a:r>
            <a:endParaRPr lang="en-US" sz="1720" dirty="0"/>
          </a:p>
        </p:txBody>
      </p:sp>
      <p:sp>
        <p:nvSpPr>
          <p:cNvPr id="26" name="Shape 24"/>
          <p:cNvSpPr/>
          <p:nvPr/>
        </p:nvSpPr>
        <p:spPr>
          <a:xfrm>
            <a:off x="7845552" y="1920240"/>
            <a:ext cx="146304" cy="146304"/>
          </a:xfrm>
          <a:prstGeom prst="ellipse">
            <a:avLst/>
          </a:prstGeom>
          <a:solidFill>
            <a:srgbClr val="38B7C9"/>
          </a:solidFill>
          <a:ln w="12700">
            <a:solidFill>
              <a:srgbClr val="38B7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65008" y="18653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tokens loaded from SQLite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7845552" y="2450592"/>
            <a:ext cx="146304" cy="146304"/>
          </a:xfrm>
          <a:prstGeom prst="ellipse">
            <a:avLst/>
          </a:prstGeom>
          <a:solidFill>
            <a:srgbClr val="23488B"/>
          </a:solidFill>
          <a:ln w="12700">
            <a:solidFill>
              <a:srgbClr val="2348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65008" y="23957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or blank mode by complexity</a:t>
            </a:r>
            <a:endParaRPr lang="en-US" sz="1340" dirty="0"/>
          </a:p>
        </p:txBody>
      </p:sp>
      <p:sp>
        <p:nvSpPr>
          <p:cNvPr id="30" name="Shape 28"/>
          <p:cNvSpPr/>
          <p:nvPr/>
        </p:nvSpPr>
        <p:spPr>
          <a:xfrm>
            <a:off x="7845552" y="2980944"/>
            <a:ext cx="146304" cy="146304"/>
          </a:xfrm>
          <a:prstGeom prst="ellipse">
            <a:avLst/>
          </a:prstGeom>
          <a:solidFill>
            <a:srgbClr val="38B7C9"/>
          </a:solidFill>
          <a:ln w="12700">
            <a:solidFill>
              <a:srgbClr val="38B7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5008" y="29260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when token data are missing</a:t>
            </a:r>
            <a:endParaRPr lang="en-US" sz="1340" dirty="0"/>
          </a:p>
        </p:txBody>
      </p:sp>
      <p:sp>
        <p:nvSpPr>
          <p:cNvPr id="32" name="Shape 30"/>
          <p:cNvSpPr/>
          <p:nvPr/>
        </p:nvSpPr>
        <p:spPr>
          <a:xfrm>
            <a:off x="7845552" y="3511296"/>
            <a:ext cx="146304" cy="146304"/>
          </a:xfrm>
          <a:prstGeom prst="ellipse">
            <a:avLst/>
          </a:prstGeom>
          <a:solidFill>
            <a:srgbClr val="23488B"/>
          </a:solidFill>
          <a:ln w="12700">
            <a:solidFill>
              <a:srgbClr val="2348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65008" y="3456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Sentence-level result persistence</a:t>
            </a:r>
            <a:endParaRPr lang="en-US" sz="1340" dirty="0"/>
          </a:p>
        </p:txBody>
      </p:sp>
      <p:sp>
        <p:nvSpPr>
          <p:cNvPr id="34" name="Shape 32"/>
          <p:cNvSpPr/>
          <p:nvPr/>
        </p:nvSpPr>
        <p:spPr>
          <a:xfrm>
            <a:off x="658368" y="4736592"/>
            <a:ext cx="10872216" cy="804672"/>
          </a:xfrm>
          <a:prstGeom prst="roundRect">
            <a:avLst>
              <a:gd name="adj" fmla="val 9091"/>
            </a:avLst>
          </a:prstGeom>
          <a:solidFill>
            <a:srgbClr val="F9FBFE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77824" y="49560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highlights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834640" y="485546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GameActivity dispatches the three modes; session summaries are stored in game_scores and detailed answers in game_question_details; the pronunciation module uses evaluation callbacks, while Word Puzzle switches between reorder and blank-style tasks based on sentence length and token count.</a:t>
            </a:r>
            <a:endParaRPr lang="en-US" sz="1240" dirty="0"/>
          </a:p>
        </p:txBody>
      </p:sp>
      <p:pic>
        <p:nvPicPr>
          <p:cNvPr id="37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38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1688775" y="63093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34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and Result Snapshots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05840" y="69494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from the implemented prototype shown in the dissertation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440680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33272"/>
            <a:ext cx="5221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&amp; account flow</a:t>
            </a:r>
            <a:endParaRPr lang="en-US" sz="1350" dirty="0"/>
          </a:p>
        </p:txBody>
      </p:sp>
      <p:pic>
        <p:nvPicPr>
          <p:cNvPr id="6" name="Image 0" descr="/mnt/data/work/crops3/user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191" y="1307592"/>
            <a:ext cx="2266763" cy="1929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0" y="1234440"/>
            <a:ext cx="5440680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44768" y="1033272"/>
            <a:ext cx="5221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Matching feedback</a:t>
            </a:r>
            <a:endParaRPr lang="en-US" sz="1350" dirty="0"/>
          </a:p>
        </p:txBody>
      </p:sp>
      <p:pic>
        <p:nvPicPr>
          <p:cNvPr id="9" name="Image 1" descr="/mnt/data/work/crops3/char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187" y="1307592"/>
            <a:ext cx="2272386" cy="19293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3232" y="3584448"/>
            <a:ext cx="5440680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3383280"/>
            <a:ext cx="5221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Pronunciation evaluation</a:t>
            </a:r>
            <a:endParaRPr lang="en-US" sz="1350" dirty="0"/>
          </a:p>
        </p:txBody>
      </p:sp>
      <p:pic>
        <p:nvPicPr>
          <p:cNvPr id="12" name="Image 2" descr="/mnt/data/work/crops3/pron_pa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8817" y="3657600"/>
            <a:ext cx="2229510" cy="19293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035040" y="3584448"/>
            <a:ext cx="5440680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144768" y="3383280"/>
            <a:ext cx="5221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Puzzle interaction</a:t>
            </a:r>
            <a:endParaRPr lang="en-US" sz="1350" dirty="0"/>
          </a:p>
        </p:txBody>
      </p:sp>
      <p:pic>
        <p:nvPicPr>
          <p:cNvPr id="15" name="Image 3" descr="/mnt/data/work/crops3/puzzle_pa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5984" y="3657600"/>
            <a:ext cx="2218792" cy="1929384"/>
          </a:xfrm>
          <a:prstGeom prst="rect">
            <a:avLst/>
          </a:prstGeom>
        </p:spPr>
      </p:pic>
      <p:pic>
        <p:nvPicPr>
          <p:cNvPr id="16" name="Image 4" descr="/mnt/data/work/template_media/image2.jpg"/>
          <p:cNvPicPr>
            <a:picLocks noChangeAspect="1"/>
          </p:cNvPicPr>
          <p:nvPr/>
        </p:nvPicPr>
        <p:blipFill>
          <a:blip r:embed="rId7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17" name="Image 5" descr="/mnt/data/work/qm_logo_transpar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88775" y="63093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34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Against the Original Objectives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05840" y="69494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core goals were achieved; full-scale user evaluation remains future work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152144"/>
            <a:ext cx="6629400" cy="4736592"/>
          </a:xfrm>
          <a:prstGeom prst="roundRect">
            <a:avLst>
              <a:gd name="adj" fmla="val 1544"/>
            </a:avLst>
          </a:prstGeom>
          <a:solidFill>
            <a:srgbClr val="F9FBFE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969264"/>
            <a:ext cx="2359152" cy="310896"/>
          </a:xfrm>
          <a:prstGeom prst="roundRect">
            <a:avLst>
              <a:gd name="adj" fmla="val 35294"/>
            </a:avLst>
          </a:prstGeom>
          <a:solidFill>
            <a:srgbClr val="DFF5F8"/>
          </a:solidFill>
          <a:ln w="12700">
            <a:solidFill>
              <a:srgbClr val="DF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0058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status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96112" y="1444752"/>
            <a:ext cx="455371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7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55448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and learner needs analysis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4681728" y="1499616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1FAE8"/>
          </a:solidFill>
          <a:ln w="10160">
            <a:solidFill>
              <a:srgbClr val="A5D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53162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E9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01184" y="153619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E9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96112" y="2039112"/>
            <a:ext cx="4553712" cy="384048"/>
          </a:xfrm>
          <a:prstGeom prst="roundRect">
            <a:avLst>
              <a:gd name="adj" fmla="val 9524"/>
            </a:avLst>
          </a:prstGeom>
          <a:solidFill>
            <a:srgbClr val="F4F8FC"/>
          </a:solidFill>
          <a:ln w="10160">
            <a:solidFill>
              <a:srgbClr val="D7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488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native Android architecture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4681728" y="2093976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1FAE8"/>
          </a:solidFill>
          <a:ln w="10160">
            <a:solidFill>
              <a:srgbClr val="A5D2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2598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E9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01184" y="213055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E9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96112" y="2633472"/>
            <a:ext cx="455371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7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74320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educational mini-games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4681728" y="2688336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1FAE8"/>
          </a:solidFill>
          <a:ln w="10160">
            <a:solidFill>
              <a:srgbClr val="A5D2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72034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E9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01184" y="272491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E9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96112" y="3227832"/>
            <a:ext cx="4553712" cy="384048"/>
          </a:xfrm>
          <a:prstGeom prst="roundRect">
            <a:avLst>
              <a:gd name="adj" fmla="val 9524"/>
            </a:avLst>
          </a:prstGeom>
          <a:solidFill>
            <a:srgbClr val="F4F8FC"/>
          </a:solidFill>
          <a:ln w="10160">
            <a:solidFill>
              <a:srgbClr val="D7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33756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JSON-backed content pipeline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4681728" y="3282696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1FAE8"/>
          </a:solidFill>
          <a:ln w="10160">
            <a:solidFill>
              <a:srgbClr val="A5D2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31470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E9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01184" y="331927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E9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96112" y="3822192"/>
            <a:ext cx="4553712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D7E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393192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 and achievements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4681728" y="3877056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1FAE8"/>
          </a:solidFill>
          <a:ln w="10160">
            <a:solidFill>
              <a:srgbClr val="A5D2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90906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E9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01184" y="391363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4E9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896112" y="4416552"/>
            <a:ext cx="4553712" cy="384048"/>
          </a:xfrm>
          <a:prstGeom prst="roundRect">
            <a:avLst>
              <a:gd name="adj" fmla="val 9524"/>
            </a:avLst>
          </a:prstGeom>
          <a:solidFill>
            <a:srgbClr val="F4F8FC"/>
          </a:solidFill>
          <a:ln w="10160">
            <a:solidFill>
              <a:srgbClr val="D7E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452628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user-study evaluation</a:t>
            </a:r>
            <a:endParaRPr lang="en-US" sz="1260" dirty="0"/>
          </a:p>
        </p:txBody>
      </p:sp>
      <p:sp>
        <p:nvSpPr>
          <p:cNvPr id="34" name="Shape 32"/>
          <p:cNvSpPr/>
          <p:nvPr/>
        </p:nvSpPr>
        <p:spPr>
          <a:xfrm>
            <a:off x="4681728" y="4471416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FF5E8"/>
          </a:solidFill>
          <a:ln w="10160">
            <a:solidFill>
              <a:srgbClr val="F2C47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503420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A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901184" y="4507992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A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achieved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7479792" y="1152144"/>
            <a:ext cx="4050792" cy="4736592"/>
          </a:xfrm>
          <a:prstGeom prst="roundRect">
            <a:avLst>
              <a:gd name="adj" fmla="val 1806"/>
            </a:avLst>
          </a:prstGeom>
          <a:solidFill>
            <a:srgbClr val="FFFFFF"/>
          </a:solidFill>
          <a:ln w="13970">
            <a:solidFill>
              <a:srgbClr val="C8D9EA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717536" y="969264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17536" y="1005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35824" y="1481328"/>
            <a:ext cx="3401568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CatLingo already supports a coherent learning workflow: login, game selection, interactive practice, and progress review.</a:t>
            </a:r>
            <a:endParaRPr lang="en-US" sz="1480" dirty="0"/>
          </a:p>
          <a:p>
            <a:pPr marL="0" indent="0">
              <a:buNone/>
            </a:pP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prototype is strongest in integrated structure, local persistence, and the technically grounded speaking workflow.</a:t>
            </a:r>
            <a:endParaRPr lang="en-US" sz="1480" dirty="0"/>
          </a:p>
          <a:p>
            <a:pPr marL="0" indent="0">
              <a:buNone/>
            </a:pP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274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current project demonstrates feasibility and internal coherence more strongly than long-term pedagogical impact at scale.</a:t>
            </a:r>
            <a:endParaRPr lang="en-US" sz="1480" dirty="0"/>
          </a:p>
        </p:txBody>
      </p:sp>
      <p:pic>
        <p:nvPicPr>
          <p:cNvPr id="41" name="Image 0" descr="/mnt/data/work/crops3/profile_si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543" y="3557016"/>
            <a:ext cx="1180942" cy="1938528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918704" y="33832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Profile/progress evidence</a:t>
            </a:r>
            <a:endParaRPr lang="en-US" sz="1260" dirty="0"/>
          </a:p>
        </p:txBody>
      </p:sp>
      <p:pic>
        <p:nvPicPr>
          <p:cNvPr id="43" name="Image 1" descr="/mnt/data/work/template_media/image2.jpg"/>
          <p:cNvPicPr>
            <a:picLocks noChangeAspect="1"/>
          </p:cNvPicPr>
          <p:nvPr/>
        </p:nvPicPr>
        <p:blipFill>
          <a:blip r:embed="rId4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44" name="Image 2" descr="/mnt/data/work/qm_logo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11688775" y="63093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348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Future 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05840" y="694944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prototype establishes a solid foundation, but not the final endpoint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5413248" cy="4526280"/>
          </a:xfrm>
          <a:prstGeom prst="roundRect">
            <a:avLst>
              <a:gd name="adj" fmla="val 1616"/>
            </a:avLst>
          </a:prstGeom>
          <a:solidFill>
            <a:srgbClr val="FFF1F1"/>
          </a:solidFill>
          <a:ln w="13970">
            <a:solidFill>
              <a:srgbClr val="F1C1C1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17336" y="1207008"/>
            <a:ext cx="5413248" cy="4526280"/>
          </a:xfrm>
          <a:prstGeom prst="roundRect">
            <a:avLst>
              <a:gd name="adj" fmla="val 1616"/>
            </a:avLst>
          </a:prstGeom>
          <a:solidFill>
            <a:srgbClr val="F2FAEE"/>
          </a:solidFill>
          <a:ln w="13970">
            <a:solidFill>
              <a:srgbClr val="CFE3B9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024128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FFE7E7"/>
          </a:solidFill>
          <a:ln w="12700">
            <a:solidFill>
              <a:srgbClr val="FFE7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060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024128"/>
            <a:ext cx="1783080" cy="310896"/>
          </a:xfrm>
          <a:prstGeom prst="roundRect">
            <a:avLst>
              <a:gd name="adj" fmla="val 35294"/>
            </a:avLst>
          </a:prstGeom>
          <a:solidFill>
            <a:srgbClr val="EAF7E0"/>
          </a:solidFill>
          <a:ln w="12700">
            <a:solidFill>
              <a:srgbClr val="EAF7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0607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8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1536192"/>
            <a:ext cx="466344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8C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are stored locally only, which suits a student prototype but limits broader deployment.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C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Pronunciation outcomes can vary with device conditions, background noise, and external service behaviour.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C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Question quality still depends on dataset balance, preprocessing quality, and distractor design.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C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broader user study is still needed to validate long-term learning impact.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91656" y="1536192"/>
            <a:ext cx="466344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E6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cloud-backed accounts and cross-device synchronisation.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E6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Expand achievement logic and richer progress analytics.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E6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 Word Puzzle curation and difficulty modelling.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E6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 more detailed pronunciation feedback and test under wider conditions.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E6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Conduct a larger formal user evaluation study.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94760" y="5486400"/>
            <a:ext cx="45902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38B7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5559552"/>
            <a:ext cx="4343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E3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 a credible and integrated prototype for future expansion</a:t>
            </a:r>
            <a:endParaRPr lang="en-US" sz="1180" dirty="0"/>
          </a:p>
        </p:txBody>
      </p:sp>
      <p:pic>
        <p:nvPicPr>
          <p:cNvPr id="14" name="Image 0" descr="/mnt/data/work/template_media/image2.jpg"/>
          <p:cNvPicPr>
            <a:picLocks noChangeAspect="1"/>
          </p:cNvPicPr>
          <p:nvPr/>
        </p:nvPicPr>
        <p:blipFill>
          <a:blip r:embed="rId3"/>
          <a:srcRect t="44800" b="44800"/>
          <a:stretch/>
        </p:blipFill>
        <p:spPr>
          <a:xfrm>
            <a:off x="0" y="6144768"/>
            <a:ext cx="12191695" cy="713232"/>
          </a:xfrm>
          <a:prstGeom prst="rect">
            <a:avLst/>
          </a:prstGeom>
        </p:spPr>
      </p:pic>
      <p:pic>
        <p:nvPicPr>
          <p:cNvPr id="15" name="Image 1" descr="/mnt/data/work/qm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6236208"/>
            <a:ext cx="1389888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688775" y="63093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48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488B"/>
          </a:solidFill>
          <a:ln w="12700">
            <a:solidFill>
              <a:srgbClr val="234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11880" y="206654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12464" y="2670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dirty="0">
                <a:solidFill>
                  <a:srgbClr val="D9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1380" dirty="0"/>
          </a:p>
        </p:txBody>
      </p:sp>
      <p:pic>
        <p:nvPicPr>
          <p:cNvPr id="5" name="Image 0" descr="/mnt/data/work/qm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4901184"/>
            <a:ext cx="2953512" cy="932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1640</Words>
  <Application>Microsoft Office PowerPoint</Application>
  <PresentationFormat>宽屏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等线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CatLingo: Android Chinese Words Game App</dc:title>
  <dc:subject>CatLingo undergraduate project defense</dc:subject>
  <dc:creator>OpenAI</dc:creator>
  <cp:lastModifiedBy>Weiliang Liu</cp:lastModifiedBy>
  <cp:revision>3</cp:revision>
  <dcterms:created xsi:type="dcterms:W3CDTF">2026-04-19T19:37:26Z</dcterms:created>
  <dcterms:modified xsi:type="dcterms:W3CDTF">2026-04-19T19:42:58Z</dcterms:modified>
</cp:coreProperties>
</file>