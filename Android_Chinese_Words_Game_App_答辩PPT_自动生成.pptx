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4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60000" cy="685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0000" y="0"/>
            <a:ext cx="5532119" cy="6858000"/>
          </a:xfrm>
          <a:prstGeom prst="rect">
            <a:avLst/>
          </a:prstGeom>
          <a:solidFill>
            <a:srgbClr val="F9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43999" y="324000"/>
            <a:ext cx="2951999" cy="2951999"/>
          </a:xfrm>
          <a:prstGeom prst="ellipse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648000"/>
            <a:ext cx="5580000" cy="36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0">
                <a:solidFill>
                  <a:srgbClr val="D8EEE0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080000"/>
            <a:ext cx="5760000" cy="10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400" b="1">
                <a:solidFill>
                  <a:srgbClr val="FFFFFF"/>
                </a:solidFill>
                <a:latin typeface="Microsoft YaHei"/>
              </a:rPr>
              <a:t>Android Chinese Words
Game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2268000"/>
            <a:ext cx="5688000" cy="432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0">
                <a:solidFill>
                  <a:srgbClr val="E1EFE5"/>
                </a:solidFill>
                <a:latin typeface="Microsoft YaHei"/>
              </a:rPr>
              <a:t>基于原生 Android 的中文词汇游戏学习应用设计与实现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000" y="2880000"/>
            <a:ext cx="1800000" cy="360000"/>
          </a:xfrm>
          <a:prstGeom prst="roundRect">
            <a:avLst/>
          </a:prstGeom>
          <a:solidFill>
            <a:srgbClr val="D8B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2937600"/>
            <a:ext cx="1620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300" b="1">
                <a:solidFill>
                  <a:srgbClr val="124C35"/>
                </a:solidFill>
                <a:latin typeface="Microsoft YaHei"/>
              </a:rPr>
              <a:t>项目代号：CatLingo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999" y="3960000"/>
            <a:ext cx="2808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300" b="0">
                <a:solidFill>
                  <a:srgbClr val="FFFFFF"/>
                </a:solidFill>
                <a:latin typeface="Microsoft YaHei"/>
              </a:rPr>
              <a:t>学生：刘维良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999" y="4248000"/>
            <a:ext cx="2808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DCE7E1"/>
                </a:solidFill>
                <a:latin typeface="Microsoft YaHei"/>
              </a:rPr>
              <a:t>学号：BUPT 2022213200 / QMUL 221166552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999" y="4536000"/>
            <a:ext cx="2808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DCE7E1"/>
                </a:solidFill>
                <a:latin typeface="Microsoft YaHei"/>
              </a:rPr>
              <a:t>日期：2026年04月20日</a:t>
            </a:r>
          </a:p>
        </p:txBody>
      </p:sp>
      <p:pic>
        <p:nvPicPr>
          <p:cNvPr id="13" name="Picture 12" descr="e62462db-040a-45f0-ade7-7e52858c23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000" y="720000"/>
            <a:ext cx="2376000" cy="237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63999" y="3420000"/>
            <a:ext cx="2736000" cy="792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500" b="1">
                <a:solidFill>
                  <a:srgbClr val="124C35"/>
                </a:solidFill>
                <a:latin typeface="Microsoft YaHei"/>
              </a:rPr>
              <a:t>面向中文初学者与中级学习者
融合识字、发音与句子重组训练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9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44119" y="-648000"/>
            <a:ext cx="2700000" cy="2700000"/>
          </a:xfrm>
          <a:prstGeom prst="ellipse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8000" y="5598000"/>
            <a:ext cx="1512000" cy="1512000"/>
          </a:xfrm>
          <a:prstGeom prst="ellipse">
            <a:avLst/>
          </a:prstGeom>
          <a:solidFill>
            <a:srgbClr val="E6D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88000"/>
            <a:ext cx="6480000" cy="46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400" b="1">
                <a:solidFill>
                  <a:srgbClr val="124C35"/>
                </a:solidFill>
                <a:latin typeface="Microsoft YaHei"/>
              </a:rPr>
              <a:t>1. 研究背景与问题定义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720000"/>
            <a:ext cx="7200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100" b="0">
                <a:solidFill>
                  <a:srgbClr val="5F7067"/>
                </a:solidFill>
                <a:latin typeface="Microsoft YaHei"/>
              </a:rPr>
              <a:t>为什么要做一个面向中文学习者的游戏化 Android 应用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3060000" cy="2592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80000"/>
            <a:ext cx="3060000" cy="360000"/>
          </a:xfrm>
          <a:prstGeom prst="round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116000"/>
            <a:ext cx="2916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研究背景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476000"/>
            <a:ext cx="2880000" cy="2142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移动学习碎片化、即时反馈强，已成为语言学习的重要补充方式。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现有中文学习工具多偏向字词展示或机械记忆，互动性与持续激励不足。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中文学习同时涉及汉字识别、拼音匹配、语音声调和句序理解，练习门槛较高。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0" y="1080000"/>
            <a:ext cx="3060000" cy="2592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0000" y="1080000"/>
            <a:ext cx="3060000" cy="360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2000" y="1116000"/>
            <a:ext cx="2916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核心问题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000" y="1476000"/>
            <a:ext cx="2880000" cy="2142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如何在 Android 端把词汇识别、发音练习与句子理解整合到同一学习系统中。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如何通过积分、成就、难度分级与进度记录提升重复练习意愿。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如何在本地持久化、语音评测与题库管理之间维持可维护的技术架构。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8000" y="1224000"/>
            <a:ext cx="2988000" cy="2520000"/>
          </a:xfrm>
          <a:prstGeom prst="roundRect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125999"/>
          <a:lstStyle/>
          <a:p>
            <a:pPr algn="l"/>
            <a:r>
              <a:rPr a:ea="Microsoft YaHei" a:latin="Microsoft YaHei" a:cs="Microsoft YaHei" sz="1500" b="0">
                <a:solidFill>
                  <a:srgbClr val="24312B"/>
                </a:solidFill>
                <a:latin typeface="Microsoft YaHei"/>
              </a:rPr>
              <a:t>论文中的中心研究问题：
“如何设计并实现一个基于 Android 的中文学习应用，以游戏化交互提升初中级学习者的词汇识别、发音训练和句子理解能力，并保持技术上可维护、教育上有意义？”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80119" y="6570000"/>
            <a:ext cx="360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r"/>
            <a:r>
              <a:rPr a:ea="Microsoft YaHei" a:latin="Microsoft YaHei" a:cs="Microsoft YaHei" sz="1000" b="0">
                <a:solidFill>
                  <a:srgbClr val="5F7067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9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44119" y="-648000"/>
            <a:ext cx="2700000" cy="2700000"/>
          </a:xfrm>
          <a:prstGeom prst="ellipse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8000" y="5598000"/>
            <a:ext cx="1512000" cy="1512000"/>
          </a:xfrm>
          <a:prstGeom prst="ellipse">
            <a:avLst/>
          </a:prstGeom>
          <a:solidFill>
            <a:srgbClr val="E6D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88000"/>
            <a:ext cx="6480000" cy="46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400" b="1">
                <a:solidFill>
                  <a:srgbClr val="124C35"/>
                </a:solidFill>
                <a:latin typeface="Microsoft YaHei"/>
              </a:rPr>
              <a:t>2. 研究目标与论文贡献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720000"/>
            <a:ext cx="7200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100" b="0">
                <a:solidFill>
                  <a:srgbClr val="5F7067"/>
                </a:solidFill>
                <a:latin typeface="Microsoft YaHei"/>
              </a:rPr>
              <a:t>从项目目标、功能边界到论文的主要贡献点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3131999" cy="2988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80000"/>
            <a:ext cx="3131999" cy="360000"/>
          </a:xfrm>
          <a:prstGeom prst="round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116000"/>
            <a:ext cx="2987999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项目目标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476000"/>
            <a:ext cx="2951999" cy="2538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设计并实现一款面向中文初中级学习者的游戏化 Android 应用。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围绕汉字识别、发音练习、词汇记忆和句序重组构建三类小游戏。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支持账户管理、难度选择、成绩记录、成就展示与学习进度追踪。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6000" y="1080000"/>
            <a:ext cx="3131999" cy="2988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6000" y="1080000"/>
            <a:ext cx="3131999" cy="360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8000" y="1116000"/>
            <a:ext cx="2987999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范围界定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6000" y="1476000"/>
            <a:ext cx="2951999" cy="2538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聚焦本地化学习原型，不覆盖完整课程体系、云端同步或对话式 AI 教学。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主要针对基础词汇、拼音对应、发音反馈和简单句子重构任务。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目标是验证一条可扩展的教育应用技术路线，而非商业化成品。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2000" y="1080000"/>
            <a:ext cx="3060000" cy="2988000"/>
          </a:xfrm>
          <a:prstGeom prst="roundRect">
            <a:avLst/>
          </a:prstGeom>
          <a:solidFill>
            <a:srgbClr val="E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54000" bIns="54000"/>
          <a:lstStyle/>
          <a:p>
            <a:pPr algn="l">
              <a:spcAft>
                <a:spcPts val="800"/>
              </a:spcAft>
            </a:pPr>
            <a:r>
              <a:rPr a:ea="Microsoft YaHei" a:latin="Microsoft YaHei" a:cs="Microsoft YaHei" b="1" sz="1600">
                <a:solidFill>
                  <a:srgbClr val="124C35"/>
                </a:solidFill>
                <a:latin typeface="Microsoft YaHei"/>
              </a:rPr>
              <a:t>论文贡献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整合字词匹配、发音测验、句子谜题三类任务，形成统一学习入口。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将游戏化机制与学习目标绑定，而不是只做表面奖励。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展示了 Java + XML + SQLite + NLP + 语音评测的原生 Android 实现方案。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提供 JSON 到 SQLite 的题库加载与可持续扩展的数据管线。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80119" y="6570000"/>
            <a:ext cx="360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r"/>
            <a:r>
              <a:rPr a:ea="Microsoft YaHei" a:latin="Microsoft YaHei" a:cs="Microsoft YaHei" sz="1000" b="0">
                <a:solidFill>
                  <a:srgbClr val="5F7067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9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44119" y="-648000"/>
            <a:ext cx="2700000" cy="2700000"/>
          </a:xfrm>
          <a:prstGeom prst="ellipse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8000" y="5598000"/>
            <a:ext cx="1512000" cy="1512000"/>
          </a:xfrm>
          <a:prstGeom prst="ellipse">
            <a:avLst/>
          </a:prstGeom>
          <a:solidFill>
            <a:srgbClr val="E6D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88000"/>
            <a:ext cx="6480000" cy="46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400" b="1">
                <a:solidFill>
                  <a:srgbClr val="124C35"/>
                </a:solidFill>
                <a:latin typeface="Microsoft YaHei"/>
              </a:rPr>
              <a:t>3. 系统需求与总体方案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720000"/>
            <a:ext cx="7200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100" b="0">
                <a:solidFill>
                  <a:srgbClr val="5F7067"/>
                </a:solidFill>
                <a:latin typeface="Microsoft YaHei"/>
              </a:rPr>
              <a:t>功能需求、非功能需求与学习场景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3024000" cy="1512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80000"/>
            <a:ext cx="3024000" cy="360000"/>
          </a:xfrm>
          <a:prstGeom prst="round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116000"/>
            <a:ext cx="2880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目标用户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476000"/>
            <a:ext cx="2844000" cy="1062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中文初学者与中级学习者。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适合短时、重复、低门槛的移动端练习场景。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希望通过可视化进度和即时反馈建立持续学习习惯。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736000"/>
            <a:ext cx="3024000" cy="1440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000" y="2736000"/>
            <a:ext cx="3024000" cy="360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2772000"/>
            <a:ext cx="2880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功能需求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000" y="3132000"/>
            <a:ext cx="2844000" cy="990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登录注册、个人资料、密码修改。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游戏选择、难度分级、成绩记录、成就系统。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三类核心小游戏与题库加载机制。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1080000"/>
            <a:ext cx="3096000" cy="1512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00000" y="1080000"/>
            <a:ext cx="3096000" cy="360000"/>
          </a:xfrm>
          <a:prstGeom prst="round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2000" y="1116000"/>
            <a:ext cx="2952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非功能需求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0000" y="1476000"/>
            <a:ext cx="2916000" cy="1062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界面清晰、操作轻量，适配一般 Android 设备。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响应及时、结构可维护、UI 与数据访问解耦。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支持原型阶段的稳定运行与后续扩展。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0" y="2736000"/>
            <a:ext cx="3096000" cy="1440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00000" y="2736000"/>
            <a:ext cx="3096000" cy="360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2000" y="2772000"/>
            <a:ext cx="2952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伦理与风险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0000" y="3132000"/>
            <a:ext cx="2916000" cy="990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本地存储用户信息，需关注隐私保护。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语音评测存在口音偏差，不应被呈现为绝对判断。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应明确说明第三方语音服务的处理过程与边界。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76000" y="1152000"/>
            <a:ext cx="2988000" cy="3024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2000" y="1242000"/>
            <a:ext cx="2736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1">
                <a:solidFill>
                  <a:srgbClr val="124C35"/>
                </a:solidFill>
                <a:latin typeface="Microsoft YaHei"/>
              </a:rPr>
              <a:t>学习闭环设计</a:t>
            </a:r>
          </a:p>
        </p:txBody>
      </p:sp>
      <p:sp>
        <p:nvSpPr>
          <p:cNvPr id="25" name="Oval 24"/>
          <p:cNvSpPr/>
          <p:nvPr/>
        </p:nvSpPr>
        <p:spPr>
          <a:xfrm>
            <a:off x="7020000" y="1620000"/>
            <a:ext cx="288000" cy="288000"/>
          </a:xfrm>
          <a:prstGeom prst="ellipse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0000" y="1627199"/>
            <a:ext cx="288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0000" y="1612800"/>
            <a:ext cx="2088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400" b="0">
                <a:solidFill>
                  <a:srgbClr val="24312B"/>
                </a:solidFill>
                <a:latin typeface="Microsoft YaHei"/>
              </a:rPr>
              <a:t>用户登录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63999" y="1908000"/>
            <a:ext cx="0" cy="107999"/>
          </a:xfrm>
          <a:prstGeom prst="line">
            <a:avLst/>
          </a:prstGeom>
          <a:ln>
            <a:solidFill>
              <a:srgbClr val="468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020000" y="2106000"/>
            <a:ext cx="288000" cy="288000"/>
          </a:xfrm>
          <a:prstGeom prst="ellipse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0000" y="2113199"/>
            <a:ext cx="288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0000" y="2098800"/>
            <a:ext cx="2088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400" b="0">
                <a:solidFill>
                  <a:srgbClr val="24312B"/>
                </a:solidFill>
                <a:latin typeface="Microsoft YaHei"/>
              </a:rPr>
              <a:t>选择游戏与难度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63999" y="2394000"/>
            <a:ext cx="0" cy="107999"/>
          </a:xfrm>
          <a:prstGeom prst="line">
            <a:avLst/>
          </a:prstGeom>
          <a:ln>
            <a:solidFill>
              <a:srgbClr val="468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020000" y="2591999"/>
            <a:ext cx="288000" cy="288000"/>
          </a:xfrm>
          <a:prstGeom prst="ellipse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20000" y="2599199"/>
            <a:ext cx="288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0000" y="2584800"/>
            <a:ext cx="2088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400" b="0">
                <a:solidFill>
                  <a:srgbClr val="24312B"/>
                </a:solidFill>
                <a:latin typeface="Microsoft YaHei"/>
              </a:rPr>
              <a:t>完成 10 题练习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63999" y="2879999"/>
            <a:ext cx="0" cy="108000"/>
          </a:xfrm>
          <a:prstGeom prst="line">
            <a:avLst/>
          </a:prstGeom>
          <a:ln>
            <a:solidFill>
              <a:srgbClr val="468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020000" y="3077999"/>
            <a:ext cx="288000" cy="288000"/>
          </a:xfrm>
          <a:prstGeom prst="ellipse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0000" y="3085199"/>
            <a:ext cx="288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0000" y="3070800"/>
            <a:ext cx="2088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400" b="0">
                <a:solidFill>
                  <a:srgbClr val="24312B"/>
                </a:solidFill>
                <a:latin typeface="Microsoft YaHei"/>
              </a:rPr>
              <a:t>即时反馈与得分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63999" y="3366000"/>
            <a:ext cx="0" cy="107999"/>
          </a:xfrm>
          <a:prstGeom prst="line">
            <a:avLst/>
          </a:prstGeom>
          <a:ln>
            <a:solidFill>
              <a:srgbClr val="4682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7020000" y="3563999"/>
            <a:ext cx="288000" cy="288000"/>
          </a:xfrm>
          <a:prstGeom prst="ellipse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20000" y="3571199"/>
            <a:ext cx="288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0000" y="3556799"/>
            <a:ext cx="2088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400" b="0">
                <a:solidFill>
                  <a:srgbClr val="24312B"/>
                </a:solidFill>
                <a:latin typeface="Microsoft YaHei"/>
              </a:rPr>
              <a:t>记录进度并解锁成就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80119" y="6570000"/>
            <a:ext cx="360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r"/>
            <a:r>
              <a:rPr a:ea="Microsoft YaHei" a:latin="Microsoft YaHei" a:cs="Microsoft YaHei" sz="1000" b="0">
                <a:solidFill>
                  <a:srgbClr val="5F7067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9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44119" y="-648000"/>
            <a:ext cx="2700000" cy="2700000"/>
          </a:xfrm>
          <a:prstGeom prst="ellipse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8000" y="5598000"/>
            <a:ext cx="1512000" cy="1512000"/>
          </a:xfrm>
          <a:prstGeom prst="ellipse">
            <a:avLst/>
          </a:prstGeom>
          <a:solidFill>
            <a:srgbClr val="E6D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88000"/>
            <a:ext cx="6480000" cy="46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400" b="1">
                <a:solidFill>
                  <a:srgbClr val="124C35"/>
                </a:solidFill>
                <a:latin typeface="Microsoft YaHei"/>
              </a:rPr>
              <a:t>4. 系统架构与技术路线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720000"/>
            <a:ext cx="7200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100" b="0">
                <a:solidFill>
                  <a:srgbClr val="5F7067"/>
                </a:solidFill>
                <a:latin typeface="Microsoft YaHei"/>
              </a:rPr>
              <a:t>从 Unity 规划迁移到原生 Android 的实现路径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9648000" cy="756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170000"/>
            <a:ext cx="9360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1">
                <a:solidFill>
                  <a:srgbClr val="124C35"/>
                </a:solidFill>
                <a:latin typeface="Microsoft YaHei"/>
              </a:rPr>
              <a:t>技术演进：Unity + C# 初始方案  →  原生 Android（Java 11 + XML）  →  SQLite + HanLP + pinyin4j + 语音评测模块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458000"/>
            <a:ext cx="9288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5F7067"/>
                </a:solidFill>
                <a:latin typeface="Microsoft YaHei"/>
              </a:rPr>
              <a:t>迁移原因：更适合表单、导航、数据库和轻量教育交互，维护成本更低，和项目实际需求更匹配。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" y="2160000"/>
            <a:ext cx="4680000" cy="486000"/>
          </a:xfrm>
          <a:prstGeom prst="round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2210400"/>
            <a:ext cx="827999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1">
                <a:solidFill>
                  <a:srgbClr val="FFFFFF"/>
                </a:solidFill>
                <a:latin typeface="Microsoft YaHei"/>
              </a:rPr>
              <a:t>表示层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2210400"/>
            <a:ext cx="3456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FFFFFF"/>
                </a:solidFill>
                <a:latin typeface="Microsoft YaHei"/>
              </a:rPr>
              <a:t>MainActivity、game_choice、GameActivity、个人中心与成就页面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" y="2736000"/>
            <a:ext cx="4680000" cy="486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2786399"/>
            <a:ext cx="827999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1">
                <a:solidFill>
                  <a:srgbClr val="FFFFFF"/>
                </a:solidFill>
                <a:latin typeface="Microsoft YaHei"/>
              </a:rPr>
              <a:t>控制层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000" y="2786399"/>
            <a:ext cx="3456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FFFFFF"/>
                </a:solidFill>
                <a:latin typeface="Microsoft YaHei"/>
              </a:rPr>
              <a:t>负责用户交互、模式切换、题目推进与页面跳转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000" y="3311999"/>
            <a:ext cx="4680000" cy="486000"/>
          </a:xfrm>
          <a:prstGeom prst="roundRect">
            <a:avLst/>
          </a:prstGeom>
          <a:solidFill>
            <a:srgbClr val="5F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6000" y="3362400"/>
            <a:ext cx="827999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1">
                <a:solidFill>
                  <a:srgbClr val="FFFFFF"/>
                </a:solidFill>
                <a:latin typeface="Microsoft YaHei"/>
              </a:rPr>
              <a:t>数据层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0" y="3362400"/>
            <a:ext cx="3456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FFFFFF"/>
                </a:solidFill>
                <a:latin typeface="Microsoft YaHei"/>
              </a:rPr>
              <a:t>SQLite + DAO + DataManager，管理用户、成绩、题库和进度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000" y="3887999"/>
            <a:ext cx="4680000" cy="486000"/>
          </a:xfrm>
          <a:prstGeom prst="roundRect">
            <a:avLst/>
          </a:prstGeom>
          <a:solidFill>
            <a:srgbClr val="96A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000" y="3938400"/>
            <a:ext cx="827999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1">
                <a:solidFill>
                  <a:srgbClr val="FFFFFF"/>
                </a:solidFill>
                <a:latin typeface="Microsoft YaHei"/>
              </a:rPr>
              <a:t>外部服务层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0000" y="3938400"/>
            <a:ext cx="3456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FFFFFF"/>
                </a:solidFill>
                <a:latin typeface="Microsoft YaHei"/>
              </a:rPr>
              <a:t>HanLP 分词与讯飞相关发音评测模块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68000" y="2160000"/>
            <a:ext cx="3996000" cy="244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54000" bIns="54000"/>
          <a:lstStyle/>
          <a:p>
            <a:pPr algn="l">
              <a:spcAft>
                <a:spcPts val="1000"/>
              </a:spcAft>
            </a:pPr>
            <a:r>
              <a:rPr a:ea="Microsoft YaHei" a:latin="Microsoft YaHei" a:cs="Microsoft YaHei" b="1" sz="1600">
                <a:solidFill>
                  <a:srgbClr val="124C35"/>
                </a:solidFill>
                <a:latin typeface="Microsoft YaHei"/>
              </a:rPr>
              <a:t>技术栈概览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开发语言：Java 11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界面：XML + Activity 导航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存储：SQLite + DAO 模式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数据准备：JSON 导入 + Gson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中文处理：HanLP、pinyin4j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语音交互：iFlyTek 相关评测/识别模块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80119" y="6570000"/>
            <a:ext cx="360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r"/>
            <a:r>
              <a:rPr a:ea="Microsoft YaHei" a:latin="Microsoft YaHei" a:cs="Microsoft YaHei" sz="1000" b="0">
                <a:solidFill>
                  <a:srgbClr val="5F7067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9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44119" y="-648000"/>
            <a:ext cx="2700000" cy="2700000"/>
          </a:xfrm>
          <a:prstGeom prst="ellipse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8000" y="5598000"/>
            <a:ext cx="1512000" cy="1512000"/>
          </a:xfrm>
          <a:prstGeom prst="ellipse">
            <a:avLst/>
          </a:prstGeom>
          <a:solidFill>
            <a:srgbClr val="E6D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88000"/>
            <a:ext cx="6480000" cy="46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400" b="1">
                <a:solidFill>
                  <a:srgbClr val="124C35"/>
                </a:solidFill>
                <a:latin typeface="Microsoft YaHei"/>
              </a:rPr>
              <a:t>5. 核心功能设计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720000"/>
            <a:ext cx="7200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100" b="0">
                <a:solidFill>
                  <a:srgbClr val="5F7067"/>
                </a:solidFill>
                <a:latin typeface="Microsoft YaHei"/>
              </a:rPr>
              <a:t>三类学习任务共同组成 CatLingo 的游戏化训练体系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152000"/>
            <a:ext cx="3096000" cy="2232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152000"/>
            <a:ext cx="3096000" cy="360000"/>
          </a:xfrm>
          <a:prstGeom prst="round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188000"/>
            <a:ext cx="2952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Character Matching 字符匹配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548000"/>
            <a:ext cx="2916000" cy="1782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根据拼音提示，从 4 个选项中选出正确中文词语。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按词性生成干扰项，避免错误选项过于简单。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目标：强化拼音到汉字/词语的映射识别能力。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0" y="1152000"/>
            <a:ext cx="3096000" cy="2232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0000" y="1152000"/>
            <a:ext cx="3096000" cy="360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2000" y="1188000"/>
            <a:ext cx="2952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Pronunciation Quiz 发音测验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000" y="1548000"/>
            <a:ext cx="2916000" cy="1782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展示目标词与拼音，长按麦克风进行录音评测。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返回总分、流利度、完整度、声调等反馈，再映射为游戏分数。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目标：把发音练习变成可重复的互动任务。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0000" y="1152000"/>
            <a:ext cx="3096000" cy="2232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40000" y="1152000"/>
            <a:ext cx="3096000" cy="360000"/>
          </a:xfrm>
          <a:prstGeom prst="roundRect">
            <a:avLst/>
          </a:prstGeom>
          <a:solidFill>
            <a:srgbClr val="6F9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000" y="1188000"/>
            <a:ext cx="2952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Word Puzzle 词语谜题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0000" y="1548000"/>
            <a:ext cx="2916000" cy="1782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短句采用排序重组，长句采用挖空填词两种模式。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依赖 HanLP 分词结果与 sentence_words 数据支持题目生成。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目标：训练句序理解与语义组合能力。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3600000"/>
            <a:ext cx="9576000" cy="756000"/>
          </a:xfrm>
          <a:prstGeom prst="roundRect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000" y="3690000"/>
            <a:ext cx="9288000" cy="39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1">
                <a:solidFill>
                  <a:srgbClr val="124C35"/>
                </a:solidFill>
                <a:latin typeface="Microsoft YaHei"/>
              </a:rPr>
              <a:t>支撑模块：用户登录与注册、难度选择、成绩记录、成就展示、个人资料与学习进度统计。</a:t>
            </a:r>
          </a:p>
        </p:txBody>
      </p:sp>
      <p:pic>
        <p:nvPicPr>
          <p:cNvPr id="21" name="Picture 20" descr="e62462db-040a-45f0-ade7-7e52858c23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000" y="3384000"/>
            <a:ext cx="900000" cy="90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580119" y="6570000"/>
            <a:ext cx="360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r"/>
            <a:r>
              <a:rPr a:ea="Microsoft YaHei" a:latin="Microsoft YaHei" a:cs="Microsoft YaHei" sz="1000" b="0">
                <a:solidFill>
                  <a:srgbClr val="5F7067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9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44119" y="-648000"/>
            <a:ext cx="2700000" cy="2700000"/>
          </a:xfrm>
          <a:prstGeom prst="ellipse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8000" y="5598000"/>
            <a:ext cx="1512000" cy="1512000"/>
          </a:xfrm>
          <a:prstGeom prst="ellipse">
            <a:avLst/>
          </a:prstGeom>
          <a:solidFill>
            <a:srgbClr val="E6D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88000"/>
            <a:ext cx="6480000" cy="46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400" b="1">
                <a:solidFill>
                  <a:srgbClr val="124C35"/>
                </a:solidFill>
                <a:latin typeface="Microsoft YaHei"/>
              </a:rPr>
              <a:t>6. 数据库与数据加载机制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720000"/>
            <a:ext cx="7200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100" b="0">
                <a:solidFill>
                  <a:srgbClr val="5F7067"/>
                </a:solidFill>
                <a:latin typeface="Microsoft YaHei"/>
              </a:rPr>
              <a:t>本地持久化保证了无服务器条件下的学习记录与题库管理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3131999" cy="31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54000" bIns="54000"/>
          <a:lstStyle/>
          <a:p>
            <a:pPr algn="l">
              <a:spcAft>
                <a:spcPts val="800"/>
              </a:spcAft>
            </a:pPr>
            <a:r>
              <a:rPr a:ea="Microsoft YaHei" a:latin="Microsoft YaHei" a:cs="Microsoft YaHei" b="1" sz="1600">
                <a:solidFill>
                  <a:srgbClr val="124C35"/>
                </a:solidFill>
                <a:latin typeface="Microsoft YaHei"/>
              </a:rPr>
              <a:t>数据库设计要点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用户相关：users、achievements、user_achievements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成绩相关：game_scores、game_question_details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资源相关：sentences、sentence_words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题库相关：character_matching、pronunciation_quiz、word_puzzle</a:t>
            </a:r>
          </a:p>
          <a:p>
            <a:pPr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采用 DAO + DaoFactory，避免在 Activity 中散落 SQL 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348000"/>
            <a:ext cx="3131999" cy="900000"/>
          </a:xfrm>
          <a:prstGeom prst="roundRect">
            <a:avLst/>
          </a:prstGeom>
          <a:solidFill>
            <a:srgbClr val="E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3438000"/>
            <a:ext cx="2916000" cy="19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124C35"/>
                </a:solidFill>
                <a:latin typeface="Microsoft YaHei"/>
              </a:rPr>
              <a:t>数据管线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671999"/>
            <a:ext cx="2916000" cy="432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24312B"/>
                </a:solidFill>
                <a:latin typeface="Microsoft YaHei"/>
              </a:rPr>
              <a:t>JSON 题库变更检测
→ DataManager 重载
→ SeedDataLoader 分词/位置更新
→ SQLite 持久化供游戏调用</a:t>
            </a:r>
          </a:p>
        </p:txBody>
      </p:sp>
      <p:pic>
        <p:nvPicPr>
          <p:cNvPr id="11" name="Picture 10" descr="ER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999" y="1080000"/>
            <a:ext cx="6228000" cy="316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580119" y="6570000"/>
            <a:ext cx="360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r"/>
            <a:r>
              <a:rPr a:ea="Microsoft YaHei" a:latin="Microsoft YaHei" a:cs="Microsoft YaHei" sz="1000" b="0">
                <a:solidFill>
                  <a:srgbClr val="5F7067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9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44119" y="-648000"/>
            <a:ext cx="2700000" cy="2700000"/>
          </a:xfrm>
          <a:prstGeom prst="ellipse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8000" y="5598000"/>
            <a:ext cx="1512000" cy="1512000"/>
          </a:xfrm>
          <a:prstGeom prst="ellipse">
            <a:avLst/>
          </a:prstGeom>
          <a:solidFill>
            <a:srgbClr val="E6D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88000"/>
            <a:ext cx="6480000" cy="46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400" b="1">
                <a:solidFill>
                  <a:srgbClr val="124C35"/>
                </a:solidFill>
                <a:latin typeface="Microsoft YaHei"/>
              </a:rPr>
              <a:t>7. 关键实现亮点与阶段性成果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720000"/>
            <a:ext cx="7200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100" b="0">
                <a:solidFill>
                  <a:srgbClr val="5F7067"/>
                </a:solidFill>
                <a:latin typeface="Microsoft YaHei"/>
              </a:rPr>
              <a:t>当前原型已经形成从登录到游戏完成的基本闭环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4572000" cy="2988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80000"/>
            <a:ext cx="4572000" cy="360000"/>
          </a:xfrm>
          <a:prstGeom prst="round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116000"/>
            <a:ext cx="4428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已完成内容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476000"/>
            <a:ext cx="4392000" cy="2538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登录注册、密码更新、个人资料页面与游戏选择页。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三类小游戏主流程均已有实现分支，支持难度选择与 10 题训练。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成绩记录、题目明细、成就解锁和学习统计已接入本地数据库。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支持 JSON 到 SQLite 的批量导入，便于后续扩充题库。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6000" y="1080000"/>
            <a:ext cx="2268000" cy="2988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6000" y="1080000"/>
            <a:ext cx="2268000" cy="360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00" y="1116000"/>
            <a:ext cx="2124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实现亮点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000" y="1476000"/>
            <a:ext cx="2088000" cy="2538000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用单一 GameActivity 统一调度三类游戏模式。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Word Puzzle 结合 HanLP 分词与回退机制提高稳健性。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Pronunciation Quiz 将语音评测结果映射到可读反馈与游戏得分。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88000" y="1080000"/>
            <a:ext cx="2412000" cy="2988000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6000" y="1170000"/>
            <a:ext cx="2160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1">
                <a:solidFill>
                  <a:srgbClr val="124C35"/>
                </a:solidFill>
                <a:latin typeface="Microsoft YaHei"/>
              </a:rPr>
              <a:t>当前状态评估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96000" y="1530000"/>
            <a:ext cx="1296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24312B"/>
                </a:solidFill>
                <a:latin typeface="Microsoft YaHei"/>
              </a:rPr>
              <a:t>原型完整性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8000" y="1515600"/>
            <a:ext cx="648000" cy="198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8000" y="1522800"/>
            <a:ext cx="648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000" b="1">
                <a:solidFill>
                  <a:srgbClr val="FFFFFF"/>
                </a:solidFill>
                <a:latin typeface="Microsoft YaHei"/>
              </a:rPr>
              <a:t>较高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6000" y="1890000"/>
            <a:ext cx="1296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24312B"/>
                </a:solidFill>
                <a:latin typeface="Microsoft YaHei"/>
              </a:rPr>
              <a:t>结构可维护性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8000" y="1875600"/>
            <a:ext cx="648000" cy="198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8000" y="1882800"/>
            <a:ext cx="648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000" b="1">
                <a:solidFill>
                  <a:srgbClr val="FFFFFF"/>
                </a:solidFill>
                <a:latin typeface="Microsoft YaHei"/>
              </a:rPr>
              <a:t>较高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6000" y="2250000"/>
            <a:ext cx="1296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24312B"/>
                </a:solidFill>
                <a:latin typeface="Microsoft YaHei"/>
              </a:rPr>
              <a:t>题库扩展性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8000" y="2235600"/>
            <a:ext cx="648000" cy="198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8000" y="2242800"/>
            <a:ext cx="648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000" b="1">
                <a:solidFill>
                  <a:srgbClr val="FFFFFF"/>
                </a:solidFill>
                <a:latin typeface="Microsoft YaHei"/>
              </a:rPr>
              <a:t>较高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96000" y="2610000"/>
            <a:ext cx="1296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24312B"/>
                </a:solidFill>
                <a:latin typeface="Microsoft YaHei"/>
              </a:rPr>
              <a:t>语音模块稳定性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8000" y="2595600"/>
            <a:ext cx="648000" cy="198000"/>
          </a:xfrm>
          <a:prstGeom prst="roundRect">
            <a:avLst/>
          </a:prstGeom>
          <a:solidFill>
            <a:srgbClr val="D8B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28000" y="2602800"/>
            <a:ext cx="648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000" b="1">
                <a:solidFill>
                  <a:srgbClr val="FFFFFF"/>
                </a:solidFill>
                <a:latin typeface="Microsoft YaHei"/>
              </a:rPr>
              <a:t>待加强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6000" y="2970000"/>
            <a:ext cx="1296000" cy="216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200" b="0">
                <a:solidFill>
                  <a:srgbClr val="24312B"/>
                </a:solidFill>
                <a:latin typeface="Microsoft YaHei"/>
              </a:rPr>
              <a:t>正式测试与打磨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28000" y="2955600"/>
            <a:ext cx="648000" cy="198000"/>
          </a:xfrm>
          <a:prstGeom prst="roundRect">
            <a:avLst/>
          </a:prstGeom>
          <a:solidFill>
            <a:srgbClr val="B0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28000" y="2962800"/>
            <a:ext cx="648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000" b="1">
                <a:solidFill>
                  <a:srgbClr val="FFFFFF"/>
                </a:solidFill>
                <a:latin typeface="Microsoft YaHei"/>
              </a:rPr>
              <a:t>待完成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80119" y="6570000"/>
            <a:ext cx="360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r"/>
            <a:r>
              <a:rPr a:ea="Microsoft YaHei" a:latin="Microsoft YaHei" a:cs="Microsoft YaHei" sz="1000" b="0">
                <a:solidFill>
                  <a:srgbClr val="5F7067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9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44119" y="-648000"/>
            <a:ext cx="2700000" cy="2700000"/>
          </a:xfrm>
          <a:prstGeom prst="ellipse">
            <a:avLst/>
          </a:prstGeom>
          <a:solidFill>
            <a:srgbClr val="DCF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8000" y="5598000"/>
            <a:ext cx="1512000" cy="1512000"/>
          </a:xfrm>
          <a:prstGeom prst="ellipse">
            <a:avLst/>
          </a:prstGeom>
          <a:solidFill>
            <a:srgbClr val="E6DF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288000"/>
            <a:ext cx="6480000" cy="46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400" b="1">
                <a:solidFill>
                  <a:srgbClr val="124C35"/>
                </a:solidFill>
                <a:latin typeface="Microsoft YaHei"/>
              </a:rPr>
              <a:t>8. 局限性、风险与未来工作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" y="720000"/>
            <a:ext cx="7200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100" b="0">
                <a:solidFill>
                  <a:srgbClr val="5F7067"/>
                </a:solidFill>
                <a:latin typeface="Microsoft YaHei"/>
              </a:rPr>
              <a:t>从原型到最终毕业设计仍需补齐的关键部分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1080000"/>
            <a:ext cx="3060000" cy="2951999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0000" y="1080000"/>
            <a:ext cx="3060000" cy="360000"/>
          </a:xfrm>
          <a:prstGeom prst="round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116000"/>
            <a:ext cx="2916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当前局限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1476000"/>
            <a:ext cx="2880000" cy="2501999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语音评测链路仍存在实现叙述与实际模块并行演进的问题，需要统一说明。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系统测试、兼容性测试与性能评估尚未完全展开。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界面细节与用户体验仍有打磨空间，尚未达到最终发布级质量。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0" y="1080000"/>
            <a:ext cx="3060000" cy="2951999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0000" y="1080000"/>
            <a:ext cx="3060000" cy="360000"/>
          </a:xfrm>
          <a:prstGeom prst="roundRect">
            <a:avLst/>
          </a:prstGeom>
          <a:solidFill>
            <a:srgbClr val="468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2000" y="1116000"/>
            <a:ext cx="2916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主要风险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000" y="1476000"/>
            <a:ext cx="2880000" cy="2501999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第三方语音评测可能受口音、环境噪声和设备差异影响。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本地存储包含账户和成绩信息，需要继续优化数据安全处理。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题库规模扩大后，数据更新和题目质量控制会变得更重要。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0000" y="1080000"/>
            <a:ext cx="3096000" cy="2951999"/>
          </a:xfrm>
          <a:prstGeom prst="roundRect">
            <a:avLst/>
          </a:prstGeom>
          <a:solidFill>
            <a:srgbClr val="FFFFFF"/>
          </a:solidFill>
          <a:ln>
            <a:solidFill>
              <a:srgbClr val="E6D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40000" y="1080000"/>
            <a:ext cx="3096000" cy="360000"/>
          </a:xfrm>
          <a:prstGeom prst="roundRect">
            <a:avLst/>
          </a:prstGeom>
          <a:solidFill>
            <a:srgbClr val="6F9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000" y="1116000"/>
            <a:ext cx="2952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500" b="1">
                <a:solidFill>
                  <a:srgbClr val="FFFFFF"/>
                </a:solidFill>
                <a:latin typeface="Microsoft YaHei"/>
              </a:rPr>
              <a:t>未来工作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0000" y="1476000"/>
            <a:ext cx="2916000" cy="2501999"/>
          </a:xfrm>
          <a:prstGeom prst="rect">
            <a:avLst/>
          </a:prstGeom>
          <a:noFill/>
        </p:spPr>
        <p:txBody>
          <a:bodyPr wrap="square" lIns="54000" rIns="54000" tIns="54000" bIns="540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统一并稳定发音测评子系统，完善错误处理与重试流程。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补充功能测试、数据库测试、性能测试和用户体验评价。</a:t>
            </a:r>
          </a:p>
          <a:p>
            <a:pPr algn="l">
              <a:spcAft>
                <a:spcPts val="400"/>
              </a:spcAft>
            </a:pPr>
            <a:r>
              <a:rPr a:ea="Microsoft YaHei" a:latin="Microsoft YaHei" a:cs="Microsoft YaHei" sz="1300">
                <a:solidFill>
                  <a:srgbClr val="24312B"/>
                </a:solidFill>
                <a:latin typeface="Microsoft YaHei"/>
              </a:rPr>
              <a:t>继续优化 UI 视觉风格，扩展题库、难度策略与学习分析能力。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80119" y="6570000"/>
            <a:ext cx="360000" cy="18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r"/>
            <a:r>
              <a:rPr a:ea="Microsoft YaHei" a:latin="Microsoft YaHei" a:cs="Microsoft YaHei" sz="1000" b="0">
                <a:solidFill>
                  <a:srgbClr val="5F7067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24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648000"/>
            <a:ext cx="8640000" cy="414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62462db-040a-45f0-ade7-7e52858c23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116000"/>
            <a:ext cx="1800000" cy="18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40000" y="1080000"/>
            <a:ext cx="5220000" cy="503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800" b="1">
                <a:solidFill>
                  <a:srgbClr val="124C35"/>
                </a:solidFill>
                <a:latin typeface="Microsoft YaHei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1584000"/>
            <a:ext cx="5328000" cy="1620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1600" b="0">
                <a:solidFill>
                  <a:srgbClr val="24312B"/>
                </a:solidFill>
                <a:latin typeface="Microsoft YaHei"/>
              </a:rPr>
              <a:t>本项目围绕“中文学习 + 游戏化交互”构建了一个可运行的 Android 原型。
它已经验证了从用户管理、题库加载到三类小游戏与进度追踪的整体技术路线，并为后续测试完善、语音模块稳定化与最终论文定稿提供了可靠基础。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3528000"/>
            <a:ext cx="2880000" cy="450000"/>
          </a:xfrm>
          <a:prstGeom prst="roundRect">
            <a:avLst/>
          </a:prstGeom>
          <a:solidFill>
            <a:srgbClr val="D8B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1999" y="3600000"/>
            <a:ext cx="2736000" cy="251999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ctr"/>
            <a:r>
              <a:rPr a:ea="Microsoft YaHei" a:latin="Microsoft YaHei" a:cs="Microsoft YaHei" sz="1800" b="1">
                <a:solidFill>
                  <a:srgbClr val="124C35"/>
                </a:solidFill>
                <a:latin typeface="Microsoft YaHei"/>
              </a:rPr>
              <a:t>谢谢老师，敬请指正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4140000"/>
            <a:ext cx="3600000" cy="288000"/>
          </a:xfrm>
          <a:prstGeom prst="rect">
            <a:avLst/>
          </a:prstGeom>
          <a:noFill/>
        </p:spPr>
        <p:txBody>
          <a:bodyPr wrap="square" lIns="54000" rIns="54000" tIns="54000" bIns="54000" anchor="ctr">
            <a:spAutoFit/>
          </a:bodyPr>
          <a:lstStyle/>
          <a:p>
            <a:pPr algn="l"/>
            <a:r>
              <a:rPr a:ea="Microsoft YaHei" a:latin="Microsoft YaHei" a:cs="Microsoft YaHei" sz="2000" b="1">
                <a:solidFill>
                  <a:srgbClr val="468256"/>
                </a:solidFill>
                <a:latin typeface="Microsoft YaHei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